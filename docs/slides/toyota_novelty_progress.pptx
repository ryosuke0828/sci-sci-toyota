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8" r:id="rId11"/>
    <p:sldId id="269" r:id="rId12"/>
    <p:sldId id="270" r:id="rId21"/>
    <p:sldId id="271" r:id="rId22"/>
    <p:sldId id="266" r:id="rId13"/>
    <p:sldId id="265"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34"/>
    <p:restoredTop sz="94610"/>
  </p:normalViewPr>
  <p:slideViewPr>
    <p:cSldViewPr snapToGrid="0" snapToObjects="1">
      <p:cViewPr>
        <p:scale>
          <a:sx n="180" d="100"/>
          <a:sy n="180" d="100"/>
        </p:scale>
        <p:origin x="56" y="17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1" Type="http://schemas.openxmlformats.org/officeDocument/2006/relationships/slide" Target="slides/slide15.xml"/>
  <Relationship Id="rId22" Type="http://schemas.openxmlformats.org/officeDocument/2006/relationships/slide" Target="slides/slide1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3769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トヨタ関連企業の論文の新規性について、前回以降の進捗をご報告します。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今回の報告の概要です。
目的は、トヨタ関連の論文について、新規性や破壊性がどの程度か、それが何によって決まるかを調べることです。データは、トヨタ関連4組織の公式サイトから集めた論文919件です。
今回は三つのことを行いました。一つめに、SciSciNet が公開している新規性の値が信頼できるかを、同じ指標を自前でも計算して確かめました。並び順がよく一致しましたので、以降は公開値を使っています。
二つめに、その値を使って、トヨタの論文が同じ分野・同じ年の一般の論文の中でどのあたりにいるかを測りました。条件を揃えると、どの指標も中央付近でした。ただし組織の間には差がございます。
三つめに、新規性を左右する要因として、先行研究にもとづく仮説を検証しました。チームの大きさと国際共同を調べましたが、関係は見られませんでした。ただ件数が少なく、確かめきれていないというのが正確です。
このほか、SciSciGPT の論文と関連研究を調べております。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データの出典です。どれがトヨタの論文か、どの組織の論文かは、公式サイトから自前で特定しました。
新規性などの指標と、比べる相手になる一般の論文の指標は、SciSciNet の公開値を使っています。SciSciNet は、約2.5億本の論文について指標を計算して公開しているデータです。世の中と比べるには、比べる相手にも同じ出どころの値が要るためです。
ただ、SciSciNet は計算の細かい条件を公開していませんので、同じ指標を自前でも計算して確かめました。これが一つめの作業です。
なお前回は、自前の計算を主に使うと申し上げましたが、この理由から、公開値を主に使う形に変えております。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対象の論文です。公式サイトに載っていた919件のうち、OpenAlex で特定できたのが860件です。対象は2000年以降に絞っており、SciSciNet に値があるのが679件、新規性の値まであるのが533件です。SciSciNet は2024年までの論文しか収録していないので、2025年以降の論文は入っておりません。
どの組織の論文かは、OpenAlex の所属情報ではなく、公式サイトに載っていたかどうかで決めています。OpenAlex の所属情報は誤りが多く、トヨタ所属を確認できるのは約半数だったためです。
未来創成センターと AISIN IMRA の米国法人は、値が取れたのがサイトに載っている論文の半分以下ですので、この二つの組織の結果は件数が少ない点にご留意ください。</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新規性は、Uzzi らの2013年の方法で測ります。論文の参考文献に載っている雑誌を二つずつ組にして、その組が世の中でどれくらい一緒に引用されにくいかを、引用先を無作為に入れ替えた場合と比べて求めます。
論文ごとに二つの値を取ります。定石らしさは、よくある組み合わせがどれだけ中心にあるか。非慣習性は、珍しい組み合わせをどれだけ含むかです。非慣習性は、読み違えないよう、高いほど珍しいという向きに揃えてあります。
破壊性は Wu らの2019年の指標で、既存の研究の流れを断ち切った度合いです。あわせて影響力の目安として、10年間の被引用数も見ています。
これらを、同じ分野・同じ年に出た一般の論文の中での順位に直して比べます。50が真ん中です。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一つめの作業です。同じ指標を自前でも計算し、両方に値がある490件で突き合わせました。横軸が自前の値、縦軸が公開値です。
並び順の一致を表す順位相関は、定石らしさで0.82、非慣習性で0.90でした。並び順はよく一致しています。
一方、値の大きさは揃いません。定石らしさの中央値は、自前が113、公開値が217です。論文の掲載誌の決め方など、公開されていない条件が違うためと考えています。
以上から、以降の分析は SciSciNet の値で行い、自前の値とは混ぜないことにしました。
（質問が出たら）値そのものの相関係数は、定石らしさで0.81、非慣習性で0.34です。非慣習性が低いのは、公開値に極端に大きい値が少数あるためで、上下1%を除くと0.79になります。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二つめの作業です。SciSciNet の値を使って、トヨタの論文が、同じ分野・同じ年に出た一般の論文43万2千件の中でどのあたりにいるかを、順位で表しました。50が真ん中です。
分野と年だけを揃えますと、10年被引用は65.1で、世の中より多く引用されています。一方、破壊性は40.0と低めでした。よく引用されるが、既存の流れを断ち切る側ではない、と読めます。
ただ、トヨタの論文は著者数の中央値が5人と、比べる相手の3人より多く、参考文献も35本と、28本より多くなっています。そこでこれらも揃えて比べ直しました。
すると破壊性は、参考文献数かチーム規模のどちらか一方を揃えるだけで50前後に戻ります。被引用は、チーム規模を揃えると52.3まで下がります。つまり、よく引用されるが流れを断ち切らないように見えたのは、トヨタに固有の性質ではなく、チームが大きく参考文献が多いことの表れでした。大きなチームほど破壊性が低いことは、Wu らが2019年に報告しています。
新規性は、どの揃え方でも中央付近です。
（チーム規模と参考文献数のどちらが効いているのかと聞かれたら、補足のスライドで説明します）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組織別に見ますと差がございます。新規性のうち非慣習性は、豊田中央研究所と未来創成センターが59〜63で、珍しい組み合わせを使う側です。AISIN IMRA の二法人は36〜42で、定石を使う側です。
先ほど全体では真ん中と申し上げましたが、それは上と下に分かれた組織の平均になっているためです。
破壊性は、どの組織も真ん中付近でした。10年被引用は、AISIN IMRA の米国法人だけが79.7と高くなっています。定石寄りでよく引用される論文を出していることになりますが、理由はまだ調べておりません。</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三つめの作業です。新規性を左右する要因として、先行研究から二つを仮説に立てました。
ここでの新規性の順位は、分野と年だけを揃えたものです。チーム規模は効果を見る側に置いているため揃えていません。参考文献数と引用する分野の広さは、指標の作り方からして値に響きますので、統制しております。
チーム規模については、Uzzi らが、チームで書いた論文は単著より珍しい組み合わせを多く含むと報告しています。今回は関係が見られませんでした。ただ、手元には単著が13件しかなく、彼らの比べ方そのものを再現できません。確かめられなかったというのが正確です。
国際共同も関係は見られませんでした。こちらも96件と少なく、小さな差であれば見逃している可能性があります。
産学連携と組織をまたぐ共同は、文献に裏付けが見つからなかったので、仮説は立てずに値だけ見ました。産学連携のある論文がやや高めですが、はっきりした差とは言えません。
組織の差は、引用する分野の広さと参考文献数を揃えても残りました。ただ、論文ごとのばらつきのうち、組織で説明できるのは5%ほどで、同じ組織の中での違いのほうがずっと大きいということです。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
一つめ、SciSciNet の新規性の値は、自前の計算と並び順がよく一致しましたので、分析に使っています。
二つめ、条件を揃えると、トヨタの論文は新規性も破壊性も被引用も世の中の中央付近でした。被引用が高く破壊性が低く見えたのは、チームが大きく参考文献が多いことによるものです。組織では、豊田中研と未来創成が珍しい組み合わせを使う側、AISIN IMRA が定石を使う側でした。
三つめ、チームの大きさと国際共同の効果は、件数が少なく確かめられませんでした。組織の差は残りますが、説明できる部分は小さいです。
今後は、研究者ごとに論文を集め直す作業の手間を見積もり、hot streak の分析に進みます。以上です。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（質問が出たときに使う）チーム規模別に破壊性を見たものです。
分野と年だけを揃えると、チームが大きいほど破壊性が低くなります。Wu らの報告と同じ傾向です。チーム規模を揃えると、ほぼ平らになります。
参考文献数だけを揃えた場合は、全体の中央値は50前後になりますが、チーム規模による傾きは残ります。チーム規模と参考文献数は重なっていて、全体の水準についてはどちらか一方に帰すことはできません。</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今後の予定です。次の段階は hot streak で、先生の問いのうち、どの研究者が特に成功するかに当たります。
hot streak を見るには、研究者一人ひとりについて、トヨタ以外での論文も含めたキャリア全体の論文が要ります。いまのデータでは、サイトに20本以上の論文がある研究者は18名しかおりませんので、論文を集め直す必要があります。
前回、この作業の手間を見積もってからご相談すると申し上げましたが、まだお出しできておりません。次回までにお出しします。そのうえで hot streak の分析に着手します。あわせて、AI の研究利用についての報告書をまとめます。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このほか、SciSciGPT を調べました。SciSciNet のデータに言葉で指示すると、AI が手順を組み立てて分析してくれるシステムです。今回の分析には使っておらず、SciSciNet のデータを直接集計しています。
先生からいただいている、AI の研究利用についての報告に向けて、同じ種類のシステムと、AI の研究利用への批判を調べております。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確認させていただきたいことが四点ございます。
一つめは、hot streak を、研究者ごとに論文を集め直す前提で進めてよいかです。
二つめは対象期間です。1990年代以前の論文は参考文献の登録が薄く、新規性の値が不安定になるため、2000年以降に絞っております。なお、1990年代以前の論文62件は、すべて AISIN IMRA の米国法人のものです。
三つめは対象組織です。Web of Science で調べたところ、デンソーや Toyota Research Institute などにも論文がまとまってございます。豊田工業大学は、企業の研究所ではなく教育研究機関ですので、除外することを提案いたします。
四つめは、Sota Hayashi さんとの役割分担です。作業が重複している可能性がございますので、ご教示いただけますと助かります。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468880"/>
            <a:ext cx="11094415" cy="822960"/>
          </a:xfrm>
          <a:prstGeom prst="rect">
            <a:avLst/>
          </a:prstGeom>
          <a:noFill/>
          <a:ln/>
        </p:spPr>
        <p:txBody>
          <a:bodyPr wrap="square" lIns="0" tIns="0" rIns="0" bIns="0" rtlCol="0" anchor="ctr"/>
          <a:lstStyle/>
          <a:p>
            <a:pPr marL="0" indent="0" algn="ctr">
              <a:buNone/>
            </a:pPr>
            <a:r>
              <a:rPr lang="ja-JP" altLang="en-US" sz="3600" b="1" dirty="0">
                <a:solidFill>
                  <a:srgbClr val="1F3864"/>
                </a:solidFill>
                <a:latin typeface="Meiryo" pitchFamily="34" charset="0"/>
                <a:ea typeface="Meiryo" pitchFamily="34" charset="-122"/>
                <a:cs typeface="Meiryo" pitchFamily="34" charset="-120"/>
              </a:rPr>
              <a:t>トヨタ関連企業の論文の新規性分析</a:t>
            </a:r>
            <a:endParaRPr lang="ja-JP" sz="3600" dirty="0"/>
          </a:p>
        </p:txBody>
      </p:sp>
      <p:sp>
        <p:nvSpPr>
          <p:cNvPr id="4" name="Text 2"/>
          <p:cNvSpPr txBox="1"/>
          <p:nvPr/>
        </p:nvSpPr>
        <p:spPr>
          <a:xfrm>
            <a:off x="548640" y="3429000"/>
            <a:ext cx="11094415" cy="411480"/>
          </a:xfrm>
          <a:prstGeom prst="rect">
            <a:avLst/>
          </a:prstGeom>
          <a:noFill/>
          <a:ln/>
        </p:spPr>
        <p:txBody>
          <a:bodyPr wrap="square" lIns="0" tIns="0" rIns="0" bIns="0" rtlCol="0" anchor="ctr"/>
          <a:lstStyle/>
          <a:p>
            <a:pPr marL="0" indent="0" algn="ctr">
              <a:buNone/>
            </a:pPr>
            <a:r>
              <a:rPr lang="ja-JP" altLang="en-US" sz="1800" dirty="0">
                <a:solidFill>
                  <a:srgbClr val="262626"/>
                </a:solidFill>
                <a:latin typeface="Meiryo" pitchFamily="34" charset="0"/>
                <a:ea typeface="Meiryo" pitchFamily="34" charset="-122"/>
                <a:cs typeface="Meiryo" pitchFamily="34" charset="-120"/>
              </a:rPr>
              <a:t>進捗報告　</a:t>
            </a:r>
            <a:r>
              <a:rPr lang="ja-JP" altLang="en-US" sz="1800">
                <a:solidFill>
                  <a:srgbClr val="262626"/>
                </a:solidFill>
                <a:latin typeface="Meiryo" pitchFamily="34" charset="0"/>
                <a:ea typeface="Meiryo" pitchFamily="34" charset="-122"/>
                <a:cs typeface="Meiryo" pitchFamily="34" charset="-120"/>
              </a:rPr>
              <a:t>2026年9月</a:t>
            </a:r>
            <a:r>
              <a:rPr lang="en-US" altLang="ja-JP" sz="1800" dirty="0">
                <a:solidFill>
                  <a:srgbClr val="262626"/>
                </a:solidFill>
                <a:latin typeface="Meiryo" pitchFamily="34" charset="0"/>
                <a:ea typeface="Meiryo" pitchFamily="34" charset="-122"/>
                <a:cs typeface="Meiryo" pitchFamily="34" charset="-120"/>
              </a:rPr>
              <a:t>28</a:t>
            </a:r>
            <a:r>
              <a:rPr lang="ja-JP" altLang="en-US" sz="1800">
                <a:solidFill>
                  <a:srgbClr val="262626"/>
                </a:solidFill>
                <a:latin typeface="Meiryo" pitchFamily="34" charset="0"/>
                <a:ea typeface="Meiryo" pitchFamily="34" charset="-122"/>
                <a:cs typeface="Meiryo" pitchFamily="34" charset="-120"/>
              </a:rPr>
              <a:t>日</a:t>
            </a:r>
            <a:endParaRPr lang="ja-JP" sz="1800" dirty="0"/>
          </a:p>
        </p:txBody>
      </p:sp>
      <p:sp>
        <p:nvSpPr>
          <p:cNvPr id="5" name="Text 3"/>
          <p:cNvSpPr txBox="1"/>
          <p:nvPr/>
        </p:nvSpPr>
        <p:spPr>
          <a:xfrm>
            <a:off x="548640" y="4389120"/>
            <a:ext cx="11094415" cy="822960"/>
          </a:xfrm>
          <a:prstGeom prst="rect">
            <a:avLst/>
          </a:prstGeom>
          <a:noFill/>
          <a:ln/>
        </p:spPr>
        <p:txBody>
          <a:bodyPr wrap="square" lIns="0" tIns="0" rIns="0" bIns="0" rtlCol="0" anchor="ctr"/>
          <a:lstStyle/>
          <a:p>
            <a:pPr marL="0" indent="0" algn="ctr">
              <a:buNone/>
            </a:pPr>
            <a:r>
              <a:rPr lang="ja-JP" altLang="en-US" sz="1800" dirty="0">
                <a:solidFill>
                  <a:srgbClr val="262626"/>
                </a:solidFill>
                <a:latin typeface="Meiryo" pitchFamily="34" charset="0"/>
                <a:ea typeface="Meiryo" pitchFamily="34" charset="-122"/>
                <a:cs typeface="Meiryo" pitchFamily="34" charset="-120"/>
              </a:rPr>
              <a:t>大阪大学大学院 工学研究科　田中研究室</a:t>
            </a:r>
            <a:endParaRPr lang="ja-JP" sz="1800" dirty="0"/>
          </a:p>
          <a:p>
            <a:pPr marL="0" indent="0" algn="ctr">
              <a:buNone/>
            </a:pPr>
            <a:r>
              <a:rPr lang="ja-JP" altLang="en-US" sz="1800" dirty="0">
                <a:solidFill>
                  <a:srgbClr val="262626"/>
                </a:solidFill>
                <a:latin typeface="Meiryo" pitchFamily="34" charset="0"/>
                <a:ea typeface="Meiryo" pitchFamily="34" charset="-122"/>
                <a:cs typeface="Meiryo" pitchFamily="34" charset="-120"/>
              </a:rPr>
              <a:t>伊倉 涼介</a:t>
            </a:r>
            <a:endParaRPr lang="ja-JP"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本報告の概要</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2</a:t>
            </a:r>
            <a:endParaRPr lang="ja-JP" sz="1200" dirty="0"/>
          </a:p>
        </p:txBody>
      </p:sp>
      <p:sp>
        <p:nvSpPr>
          <p:cNvPr id="4" name="Text 2"/>
          <p:cNvSpPr txBox="1"/>
          <p:nvPr/>
        </p:nvSpPr>
        <p:spPr>
          <a:xfrm>
            <a:off x="548640" y="1188720"/>
            <a:ext cx="11094415" cy="822960"/>
          </a:xfrm>
          <a:prstGeom prst="rect">
            <a:avLst/>
          </a:prstGeom>
          <a:noFill/>
          <a:ln/>
        </p:spPr>
        <p:txBody>
          <a:bodyPr wrap="square" lIns="0" tIns="0" rIns="0" bIns="0" rtlCol="0" anchor="t"/>
          <a:lstStyle/>
          <a:p>
            <a:pPr marL="0" indent="0">
              <a:spcAft>
                <a:spcPts val="600"/>
              </a:spcAft>
              <a:buNone/>
            </a:pPr>
            <a:r>
              <a:rPr lang="ja-JP" altLang="en-US" sz="2000" b="1" dirty="0">
                <a:solidFill>
                  <a:srgbClr val="262626"/>
                </a:solidFill>
                <a:latin typeface="Meiryo" pitchFamily="34" charset="0"/>
                <a:ea typeface="Meiryo" pitchFamily="34" charset="-122"/>
                <a:cs typeface="Meiryo" pitchFamily="34" charset="-120"/>
              </a:rPr>
              <a:t>目的：</a:t>
            </a:r>
            <a:r>
              <a:rPr lang="ja-JP" altLang="en-US" sz="2000" dirty="0">
                <a:solidFill>
                  <a:srgbClr val="262626"/>
                </a:solidFill>
                <a:latin typeface="Meiryo" pitchFamily="34" charset="0"/>
                <a:ea typeface="Meiryo" pitchFamily="34" charset="-122"/>
                <a:cs typeface="Meiryo" pitchFamily="34" charset="-120"/>
              </a:rPr>
              <a:t>トヨタ関連の論文について、新規性・破壊性の水準と、それを左右する要因を調べる</a:t>
            </a:r>
            <a:endParaRPr lang="ja-JP" sz="2000" dirty="0"/>
          </a:p>
          <a:p>
            <a:pPr marL="0" indent="0">
              <a:spcAft>
                <a:spcPts val="600"/>
              </a:spcAft>
              <a:buNone/>
            </a:pPr>
            <a:r>
              <a:rPr lang="ja-JP" altLang="en-US" sz="2000" b="1" dirty="0">
                <a:solidFill>
                  <a:srgbClr val="262626"/>
                </a:solidFill>
                <a:latin typeface="Meiryo" pitchFamily="34" charset="0"/>
                <a:ea typeface="Meiryo" pitchFamily="34" charset="-122"/>
                <a:cs typeface="Meiryo" pitchFamily="34" charset="-120"/>
              </a:rPr>
              <a:t>データ：</a:t>
            </a:r>
            <a:r>
              <a:rPr lang="ja-JP" altLang="en-US" sz="2000" dirty="0">
                <a:solidFill>
                  <a:srgbClr val="262626"/>
                </a:solidFill>
                <a:latin typeface="Meiryo" pitchFamily="34" charset="0"/>
                <a:ea typeface="Meiryo" pitchFamily="34" charset="-122"/>
                <a:cs typeface="Meiryo" pitchFamily="34" charset="-120"/>
              </a:rPr>
              <a:t>トヨタ関連4組織の公式サイトから収集した論文 919件（OpenAlex で特定 860件）</a:t>
            </a:r>
            <a:endParaRPr lang="ja-JP" sz="2000" dirty="0"/>
          </a:p>
        </p:txBody>
      </p:sp>
      <p:sp>
        <p:nvSpPr>
          <p:cNvPr id="5" name="Text 3"/>
          <p:cNvSpPr txBox="1"/>
          <p:nvPr/>
        </p:nvSpPr>
        <p:spPr>
          <a:xfrm>
            <a:off x="548640" y="2148840"/>
            <a:ext cx="11094415" cy="365760"/>
          </a:xfrm>
          <a:prstGeom prst="rect">
            <a:avLst/>
          </a:prstGeom>
          <a:noFill/>
          <a:ln/>
        </p:spPr>
        <p:txBody>
          <a:bodyPr wrap="square" lIns="0" tIns="0" rIns="0" bIns="0" rtlCol="0" anchor="ctr"/>
          <a:lstStyle/>
          <a:p>
            <a:pPr marL="0" indent="0">
              <a:buNone/>
            </a:pPr>
            <a:r>
              <a:rPr lang="ja-JP" altLang="en-US" sz="2000" b="1" dirty="0">
                <a:solidFill>
                  <a:srgbClr val="262626"/>
                </a:solidFill>
                <a:latin typeface="Meiryo" pitchFamily="34" charset="0"/>
                <a:ea typeface="Meiryo" pitchFamily="34" charset="-122"/>
                <a:cs typeface="Meiryo" pitchFamily="34" charset="-120"/>
              </a:rPr>
              <a:t>実施内容と結果</a:t>
            </a:r>
            <a:endParaRPr lang="ja-JP"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11094415" cy="3063240"/>
        </p:xfrm>
        <a:graphic>
          <a:graphicData uri="http://schemas.openxmlformats.org/drawingml/2006/table">
            <a:tbl>
              <a:tblPr/>
              <a:tblGrid>
                <a:gridCol w="34747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053535">
                  <a:extLst>
                    <a:ext uri="{9D8B030D-6E8A-4147-A177-3AD203B41FA5}">
                      <a16:colId xmlns:a16="http://schemas.microsoft.com/office/drawing/2014/main" val="20002"/>
                    </a:ext>
                  </a:extLst>
                </a:gridCol>
              </a:tblGrid>
              <a:tr h="411480">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項目</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実施内容</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結果</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96012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1. SciSciNet 公開値の検証</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同じ指標を自前でも計算し、</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公開値と比較</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並び順はよく一致</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（順位相関 0.82〜0.90）</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以降は公開値を使用</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96012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2. 一般論文との比較</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同じ分野・同じ年の一般論文</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約43万件の中での順位を算出</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条件を揃えると中央付近</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（新規性・破壊性・被引用）</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組織間には差</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3. 新規性の要因の検証</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先行研究にもとづく仮説を検証</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（チーム規模・国際共同）</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いずれも関係は見られず</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件数が少なく、確かめきれていない</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データの出典</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3</a:t>
            </a:r>
            <a:endParaRPr lang="ja-JP"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1828800"/>
        </p:xfrm>
        <a:graphic>
          <a:graphicData uri="http://schemas.openxmlformats.org/drawingml/2006/table">
            <a:tbl>
              <a:tblPr/>
              <a:tblGrid>
                <a:gridCol w="5852160">
                  <a:extLst>
                    <a:ext uri="{9D8B030D-6E8A-4147-A177-3AD203B41FA5}">
                      <a16:colId xmlns:a16="http://schemas.microsoft.com/office/drawing/2014/main" val="20000"/>
                    </a:ext>
                  </a:extLst>
                </a:gridCol>
                <a:gridCol w="5242255">
                  <a:extLst>
                    <a:ext uri="{9D8B030D-6E8A-4147-A177-3AD203B41FA5}">
                      <a16:colId xmlns:a16="http://schemas.microsoft.com/office/drawing/2014/main" val="20001"/>
                    </a:ext>
                  </a:extLst>
                </a:gridCol>
              </a:tblGrid>
              <a:tr h="457200">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項目</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出典</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トヨタの論文の特定、組織の区別</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自前（4組織の公式サイトから収集）</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各論文の指標（新規性・破壊性・被引用）</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SciSciNet の公開値</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比較対象（同じ分野・同じ年の一般論文）の指標</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SciSciNet の公開値</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3337560"/>
            <a:ext cx="11094415" cy="2926080"/>
          </a:xfrm>
          <a:prstGeom prst="rect">
            <a:avLst/>
          </a:prstGeom>
          <a:noFill/>
          <a:ln/>
        </p:spPr>
        <p:txBody>
          <a:bodyPr wrap="square" lIns="0" tIns="0" rIns="0" bIns="0" rtlCol="0" anchor="t"/>
          <a:lstStyle/>
          <a:p>
            <a:pPr marL="228600" indent="-228600">
              <a:spcAft>
                <a:spcPts val="800"/>
              </a:spcAft>
              <a:buSzPct val="100000"/>
              <a:buChar char="•"/>
            </a:pPr>
            <a:r>
              <a:rPr lang="ja-JP" altLang="en-US" sz="2000" dirty="0">
                <a:solidFill>
                  <a:srgbClr val="262626"/>
                </a:solidFill>
                <a:latin typeface="Meiryo" pitchFamily="34" charset="0"/>
                <a:ea typeface="Meiryo" pitchFamily="34" charset="-122"/>
                <a:cs typeface="Meiryo" pitchFamily="34" charset="-120"/>
              </a:rPr>
              <a:t>SciSciNet：約2.5億本の論文について、新規性・破壊性などの指標を計算して公開しているデータ（Northwestern 大学）</a:t>
            </a:r>
            <a:endParaRPr lang="ja-JP" sz="2000" dirty="0"/>
          </a:p>
          <a:p>
            <a:pPr marL="228600" indent="-228600">
              <a:spcAft>
                <a:spcPts val="800"/>
              </a:spcAft>
              <a:buSzPct val="100000"/>
              <a:buChar char="•"/>
            </a:pPr>
            <a:r>
              <a:rPr lang="ja-JP" altLang="en-US" sz="2000" dirty="0">
                <a:solidFill>
                  <a:srgbClr val="262626"/>
                </a:solidFill>
                <a:latin typeface="Meiryo" pitchFamily="34" charset="0"/>
                <a:ea typeface="Meiryo" pitchFamily="34" charset="-122"/>
                <a:cs typeface="Meiryo" pitchFamily="34" charset="-120"/>
              </a:rPr>
              <a:t>一般論文と比べるには、比較対象にも同じ出典の値が必要なため、公開値を使用</a:t>
            </a:r>
            <a:endParaRPr lang="ja-JP" sz="2000" dirty="0"/>
          </a:p>
          <a:p>
            <a:pPr marL="228600" indent="-228600">
              <a:spcAft>
                <a:spcPts val="800"/>
              </a:spcAft>
              <a:buSzPct val="100000"/>
              <a:buChar char="•"/>
            </a:pPr>
            <a:r>
              <a:rPr lang="ja-JP" altLang="en-US" sz="2000" dirty="0">
                <a:solidFill>
                  <a:srgbClr val="262626"/>
                </a:solidFill>
                <a:latin typeface="Meiryo" pitchFamily="34" charset="0"/>
                <a:ea typeface="Meiryo" pitchFamily="34" charset="-122"/>
                <a:cs typeface="Meiryo" pitchFamily="34" charset="-120"/>
              </a:rPr>
              <a:t>計算条件の一部が非公開のため、同じ指標を自前でも計算</a:t>
            </a:r>
            <a:r>
              <a:rPr lang="ja-JP" altLang="en-US" sz="2000">
                <a:solidFill>
                  <a:srgbClr val="262626"/>
                </a:solidFill>
                <a:latin typeface="Meiryo" pitchFamily="34" charset="0"/>
                <a:ea typeface="Meiryo" pitchFamily="34" charset="-122"/>
                <a:cs typeface="Meiryo" pitchFamily="34" charset="-120"/>
              </a:rPr>
              <a:t>して確認</a:t>
            </a:r>
            <a:endParaRPr lang="ja-JP"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対象論文</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4</a:t>
            </a:r>
            <a:endParaRPr lang="ja-JP"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2788920"/>
        </p:xfrm>
        <a:graphic>
          <a:graphicData uri="http://schemas.openxmlformats.org/drawingml/2006/table">
            <a:tbl>
              <a:tblPr/>
              <a:tblGrid>
                <a:gridCol w="31089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1676095">
                  <a:extLst>
                    <a:ext uri="{9D8B030D-6E8A-4147-A177-3AD203B41FA5}">
                      <a16:colId xmlns:a16="http://schemas.microsoft.com/office/drawing/2014/main" val="20004"/>
                    </a:ext>
                  </a:extLst>
                </a:gridCol>
              </a:tblGrid>
              <a:tr h="731520">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組織</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サイト掲載</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OpenAlex</a:t>
                      </a:r>
                      <a:endParaRPr lang="ja-JP" sz="1800" dirty="0">
                        <a:latin typeface="Meiryo" charset="0"/>
                        <a:ea typeface="Meiryo" charset="0"/>
                        <a:cs typeface="Meiryo" charset="0"/>
                      </a:endParaRPr>
                    </a:p>
                    <a:p>
                      <a:pPr marL="0" indent="0" algn="ctr">
                        <a:buNone/>
                      </a:pPr>
                      <a:r>
                        <a:rPr lang="ja-JP" altLang="en-US" sz="1800" b="1" dirty="0">
                          <a:solidFill>
                            <a:srgbClr val="262626"/>
                          </a:solidFill>
                          <a:latin typeface="Meiryo" pitchFamily="34" charset="0"/>
                          <a:ea typeface="Meiryo" pitchFamily="34" charset="-122"/>
                          <a:cs typeface="Meiryo" pitchFamily="34" charset="-120"/>
                        </a:rPr>
                        <a:t>で特定</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SciSciNet に値あり</a:t>
                      </a:r>
                      <a:endParaRPr lang="ja-JP" sz="1800" dirty="0">
                        <a:latin typeface="Meiryo" charset="0"/>
                        <a:ea typeface="Meiryo" charset="0"/>
                        <a:cs typeface="Meiryo" charset="0"/>
                      </a:endParaRPr>
                    </a:p>
                    <a:p>
                      <a:pPr marL="0" indent="0" algn="ctr">
                        <a:buNone/>
                      </a:pPr>
                      <a:r>
                        <a:rPr lang="ja-JP" altLang="en-US" sz="1800" b="1" dirty="0">
                          <a:solidFill>
                            <a:srgbClr val="262626"/>
                          </a:solidFill>
                          <a:latin typeface="Meiryo" pitchFamily="34" charset="0"/>
                          <a:ea typeface="Meiryo" pitchFamily="34" charset="-122"/>
                          <a:cs typeface="Meiryo" pitchFamily="34" charset="-120"/>
                        </a:rPr>
                        <a:t>（2000年以降）</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新規性の</a:t>
                      </a:r>
                      <a:endParaRPr lang="ja-JP" sz="1800" dirty="0">
                        <a:latin typeface="Meiryo" charset="0"/>
                        <a:ea typeface="Meiryo" charset="0"/>
                        <a:cs typeface="Meiryo" charset="0"/>
                      </a:endParaRPr>
                    </a:p>
                    <a:p>
                      <a:pPr marL="0" indent="0" algn="ctr">
                        <a:buNone/>
                      </a:pPr>
                      <a:r>
                        <a:rPr lang="ja-JP" altLang="en-US" sz="1800" b="1" dirty="0">
                          <a:solidFill>
                            <a:srgbClr val="262626"/>
                          </a:solidFill>
                          <a:latin typeface="Meiryo" pitchFamily="34" charset="0"/>
                          <a:ea typeface="Meiryo" pitchFamily="34" charset="-122"/>
                          <a:cs typeface="Meiryo" pitchFamily="34" charset="-120"/>
                        </a:rPr>
                        <a:t>値あり</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豊田中央研究所</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355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352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296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268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未来創成センター</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154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131</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93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69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AISIN IMRA（日本）</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97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84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74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72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AISIN IMRA（米国）</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313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293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216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124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合計</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919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860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679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533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2"/>
          <p:cNvSpPr txBox="1"/>
          <p:nvPr/>
        </p:nvSpPr>
        <p:spPr>
          <a:xfrm>
            <a:off x="548640" y="4206240"/>
            <a:ext cx="11094415" cy="2103120"/>
          </a:xfrm>
          <a:prstGeom prst="rect">
            <a:avLst/>
          </a:prstGeom>
          <a:noFill/>
          <a:ln/>
        </p:spPr>
        <p:txBody>
          <a:bodyPr wrap="square" lIns="0" tIns="0" rIns="0" bIns="0" rtlCol="0" anchor="t"/>
          <a:lstStyle/>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組織は公式サイトへの掲載で特定</a:t>
            </a:r>
            <a:br>
              <a:rPr dirty="0"/>
            </a:br>
            <a:r>
              <a:rPr lang="ja-JP" altLang="en-US" sz="1800" dirty="0">
                <a:solidFill>
                  <a:srgbClr val="262626"/>
                </a:solidFill>
                <a:latin typeface="Meiryo" pitchFamily="34" charset="0"/>
                <a:ea typeface="Meiryo" pitchFamily="34" charset="-122"/>
                <a:cs typeface="Meiryo" pitchFamily="34" charset="-120"/>
              </a:rPr>
              <a:t>（OpenAlex の所属情報は誤りが多く、トヨタ所属を確認できるのは約半数）</a:t>
            </a:r>
            <a:endParaRPr lang="ja-JP" sz="1800" dirty="0"/>
          </a:p>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対象</a:t>
            </a:r>
            <a:r>
              <a:rPr lang="ja-JP" altLang="en-US" sz="1800">
                <a:solidFill>
                  <a:srgbClr val="262626"/>
                </a:solidFill>
                <a:latin typeface="Meiryo" pitchFamily="34" charset="0"/>
                <a:ea typeface="Meiryo" pitchFamily="34" charset="-122"/>
                <a:cs typeface="Meiryo" pitchFamily="34" charset="-120"/>
              </a:rPr>
              <a:t>は2000年から</a:t>
            </a:r>
            <a:r>
              <a:rPr lang="en-US" altLang="ja-JP" sz="1800" dirty="0">
                <a:solidFill>
                  <a:srgbClr val="262626"/>
                </a:solidFill>
                <a:latin typeface="Meiryo" pitchFamily="34" charset="0"/>
                <a:ea typeface="Meiryo" pitchFamily="34" charset="-122"/>
                <a:cs typeface="Meiryo" pitchFamily="34" charset="-120"/>
              </a:rPr>
              <a:t>2025</a:t>
            </a:r>
            <a:r>
              <a:rPr lang="ja-JP" altLang="en-US" sz="1800">
                <a:solidFill>
                  <a:srgbClr val="262626"/>
                </a:solidFill>
                <a:latin typeface="Meiryo" pitchFamily="34" charset="0"/>
                <a:ea typeface="Meiryo" pitchFamily="34" charset="-122"/>
                <a:cs typeface="Meiryo" pitchFamily="34" charset="-120"/>
              </a:rPr>
              <a:t>年。</a:t>
            </a:r>
            <a:r>
              <a:rPr lang="ja-JP" altLang="en-US" sz="1800" dirty="0">
                <a:solidFill>
                  <a:srgbClr val="262626"/>
                </a:solidFill>
                <a:latin typeface="Meiryo" pitchFamily="34" charset="0"/>
                <a:ea typeface="Meiryo" pitchFamily="34" charset="-122"/>
                <a:cs typeface="Meiryo" pitchFamily="34" charset="-120"/>
              </a:rPr>
              <a:t>2025年以降の</a:t>
            </a:r>
            <a:r>
              <a:rPr lang="ja-JP" altLang="en-US" sz="1800">
                <a:solidFill>
                  <a:srgbClr val="262626"/>
                </a:solidFill>
                <a:latin typeface="Meiryo" pitchFamily="34" charset="0"/>
                <a:ea typeface="Meiryo" pitchFamily="34" charset="-122"/>
                <a:cs typeface="Meiryo" pitchFamily="34" charset="-120"/>
              </a:rPr>
              <a:t>論文は指標が欠損している</a:t>
            </a:r>
            <a:endParaRPr lang="ja-JP" sz="1800" dirty="0"/>
          </a:p>
          <a:p>
            <a:pPr marL="228600" indent="-228600">
              <a:spcAft>
                <a:spcPts val="800"/>
              </a:spcAft>
              <a:buSzPct val="100000"/>
              <a:buChar char="•"/>
            </a:pPr>
            <a:r>
              <a:rPr lang="ja-JP" altLang="en-US" sz="1800">
                <a:solidFill>
                  <a:srgbClr val="262626"/>
                </a:solidFill>
                <a:latin typeface="Meiryo" pitchFamily="34" charset="0"/>
                <a:ea typeface="Meiryo" pitchFamily="34" charset="-122"/>
                <a:cs typeface="Meiryo" pitchFamily="34" charset="-120"/>
              </a:rPr>
              <a:t>↑に関して未来</a:t>
            </a:r>
            <a:r>
              <a:rPr lang="ja-JP" altLang="en-US" sz="1800" dirty="0">
                <a:solidFill>
                  <a:srgbClr val="262626"/>
                </a:solidFill>
                <a:latin typeface="Meiryo" pitchFamily="34" charset="0"/>
                <a:ea typeface="Meiryo" pitchFamily="34" charset="-122"/>
                <a:cs typeface="Meiryo" pitchFamily="34" charset="-120"/>
              </a:rPr>
              <a:t>創成センターと AISIN IMRA（</a:t>
            </a:r>
            <a:r>
              <a:rPr lang="ja-JP" altLang="en-US" sz="1800">
                <a:solidFill>
                  <a:srgbClr val="262626"/>
                </a:solidFill>
                <a:latin typeface="Meiryo" pitchFamily="34" charset="0"/>
                <a:ea typeface="Meiryo" pitchFamily="34" charset="-122"/>
                <a:cs typeface="Meiryo" pitchFamily="34" charset="-120"/>
              </a:rPr>
              <a:t>米国）</a:t>
            </a:r>
            <a:r>
              <a:rPr lang="ja-JP" altLang="en-US">
                <a:solidFill>
                  <a:srgbClr val="262626"/>
                </a:solidFill>
                <a:latin typeface="Meiryo" pitchFamily="34" charset="0"/>
                <a:ea typeface="Meiryo" pitchFamily="34" charset="-122"/>
                <a:cs typeface="Meiryo" pitchFamily="34" charset="-120"/>
              </a:rPr>
              <a:t>は</a:t>
            </a:r>
            <a:r>
              <a:rPr lang="ja-JP" altLang="en-US" sz="1800">
                <a:solidFill>
                  <a:srgbClr val="262626"/>
                </a:solidFill>
                <a:latin typeface="Meiryo" pitchFamily="34" charset="0"/>
                <a:ea typeface="Meiryo" pitchFamily="34" charset="-122"/>
                <a:cs typeface="Meiryo" pitchFamily="34" charset="-120"/>
              </a:rPr>
              <a:t>新規性</a:t>
            </a:r>
            <a:r>
              <a:rPr lang="ja-JP" altLang="en-US" sz="1800" dirty="0">
                <a:solidFill>
                  <a:srgbClr val="262626"/>
                </a:solidFill>
                <a:latin typeface="Meiryo" pitchFamily="34" charset="0"/>
                <a:ea typeface="Meiryo" pitchFamily="34" charset="-122"/>
                <a:cs typeface="Meiryo" pitchFamily="34" charset="-120"/>
              </a:rPr>
              <a:t>の値が得られたのがサイト掲載の半分以下</a:t>
            </a:r>
            <a:endParaRPr lang="ja-JP"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指標</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5</a:t>
            </a:r>
            <a:endParaRPr lang="ja-JP" sz="1200" dirty="0"/>
          </a:p>
        </p:txBody>
      </p:sp>
      <p:sp>
        <p:nvSpPr>
          <p:cNvPr id="4" name="Text 2"/>
          <p:cNvSpPr txBox="1"/>
          <p:nvPr/>
        </p:nvSpPr>
        <p:spPr>
          <a:xfrm>
            <a:off x="548640" y="1188720"/>
            <a:ext cx="11094415" cy="365760"/>
          </a:xfrm>
          <a:prstGeom prst="rect">
            <a:avLst/>
          </a:prstGeom>
          <a:noFill/>
          <a:ln/>
        </p:spPr>
        <p:txBody>
          <a:bodyPr wrap="square" lIns="0" tIns="0" rIns="0" bIns="0" rtlCol="0" anchor="ctr"/>
          <a:lstStyle/>
          <a:p>
            <a:pPr marL="0" indent="0">
              <a:buNone/>
            </a:pPr>
            <a:r>
              <a:rPr lang="ja-JP" altLang="en-US" sz="2000" b="1" dirty="0">
                <a:solidFill>
                  <a:srgbClr val="262626"/>
                </a:solidFill>
                <a:latin typeface="Meiryo" pitchFamily="34" charset="0"/>
                <a:ea typeface="Meiryo" pitchFamily="34" charset="-122"/>
                <a:cs typeface="Meiryo" pitchFamily="34" charset="-120"/>
              </a:rPr>
              <a:t>新規性（Uzzi et al. 2013）</a:t>
            </a:r>
            <a:endParaRPr lang="ja-JP" sz="2000" dirty="0"/>
          </a:p>
        </p:txBody>
      </p:sp>
      <p:sp>
        <p:nvSpPr>
          <p:cNvPr id="5" name="Text 3"/>
          <p:cNvSpPr txBox="1"/>
          <p:nvPr/>
        </p:nvSpPr>
        <p:spPr>
          <a:xfrm>
            <a:off x="548640" y="1645920"/>
            <a:ext cx="11094415" cy="2423160"/>
          </a:xfrm>
          <a:prstGeom prst="rect">
            <a:avLst/>
          </a:prstGeom>
          <a:noFill/>
          <a:ln/>
        </p:spPr>
        <p:txBody>
          <a:bodyPr wrap="square" lIns="0" tIns="0" rIns="0" bIns="0" rtlCol="0" anchor="t"/>
          <a:lstStyle/>
          <a:p>
            <a:pPr marL="304800" indent="-304800">
              <a:spcAft>
                <a:spcPts val="500"/>
              </a:spcAft>
              <a:buSzPct val="100000"/>
              <a:buFont typeface="+mj-lt"/>
              <a:buAutoNum type="arabicPeriod"/>
            </a:pPr>
            <a:r>
              <a:rPr lang="ja-JP" altLang="en-US" sz="1800" dirty="0">
                <a:solidFill>
                  <a:srgbClr val="262626"/>
                </a:solidFill>
                <a:latin typeface="Meiryo" pitchFamily="34" charset="0"/>
                <a:ea typeface="Meiryo" pitchFamily="34" charset="-122"/>
                <a:cs typeface="Meiryo" pitchFamily="34" charset="-120"/>
              </a:rPr>
              <a:t>論文の参考文献が掲載された雑誌</a:t>
            </a:r>
            <a:r>
              <a:rPr lang="ja-JP" altLang="en-US" sz="1800">
                <a:solidFill>
                  <a:srgbClr val="262626"/>
                </a:solidFill>
                <a:latin typeface="Meiryo" pitchFamily="34" charset="0"/>
                <a:ea typeface="Meiryo" pitchFamily="34" charset="-122"/>
                <a:cs typeface="Meiryo" pitchFamily="34" charset="-120"/>
              </a:rPr>
              <a:t>を、全ての組み合わせについて以下を計算</a:t>
            </a:r>
            <a:endParaRPr lang="ja-JP" sz="1800" dirty="0"/>
          </a:p>
          <a:p>
            <a:pPr marL="304800" indent="-304800">
              <a:spcAft>
                <a:spcPts val="500"/>
              </a:spcAft>
              <a:buSzPct val="100000"/>
              <a:buFont typeface="+mj-lt"/>
              <a:buAutoNum type="arabicPeriod"/>
            </a:pPr>
            <a:r>
              <a:rPr lang="ja-JP" altLang="en-US" sz="1800" dirty="0">
                <a:solidFill>
                  <a:srgbClr val="262626"/>
                </a:solidFill>
                <a:latin typeface="Meiryo" pitchFamily="34" charset="0"/>
                <a:ea typeface="Meiryo" pitchFamily="34" charset="-122"/>
                <a:cs typeface="Meiryo" pitchFamily="34" charset="-120"/>
              </a:rPr>
              <a:t>各組が同じ年の論文全体で一緒に引用される頻度を、</a:t>
            </a:r>
            <a:br>
              <a:rPr dirty="0"/>
            </a:br>
            <a:r>
              <a:rPr lang="ja-JP" altLang="en-US" sz="1800" dirty="0">
                <a:solidFill>
                  <a:srgbClr val="262626"/>
                </a:solidFill>
                <a:latin typeface="Meiryo" pitchFamily="34" charset="0"/>
                <a:ea typeface="Meiryo" pitchFamily="34" charset="-122"/>
                <a:cs typeface="Meiryo" pitchFamily="34" charset="-120"/>
              </a:rPr>
              <a:t>引用先を無作為に入れ替えた場合と比べて </a:t>
            </a:r>
            <a:r>
              <a:rPr lang="ja-JP" altLang="en-US" sz="1800">
                <a:solidFill>
                  <a:srgbClr val="262626"/>
                </a:solidFill>
                <a:latin typeface="Meiryo" pitchFamily="34" charset="0"/>
                <a:ea typeface="Meiryo" pitchFamily="34" charset="-122"/>
                <a:cs typeface="Meiryo" pitchFamily="34" charset="-120"/>
              </a:rPr>
              <a:t>z スコアを算出</a:t>
            </a:r>
            <a:endParaRPr lang="ja-JP" sz="1800" dirty="0"/>
          </a:p>
          <a:p>
            <a:pPr marL="304800" indent="-304800">
              <a:spcAft>
                <a:spcPts val="500"/>
              </a:spcAft>
              <a:buSzPct val="100000"/>
              <a:buFont typeface="+mj-lt"/>
              <a:buAutoNum type="arabicPeriod"/>
            </a:pPr>
            <a:r>
              <a:rPr lang="ja-JP" altLang="en-US" sz="1800" dirty="0">
                <a:solidFill>
                  <a:srgbClr val="262626"/>
                </a:solidFill>
                <a:latin typeface="Meiryo" pitchFamily="34" charset="0"/>
                <a:ea typeface="Meiryo" pitchFamily="34" charset="-122"/>
                <a:cs typeface="Meiryo" pitchFamily="34" charset="-120"/>
              </a:rPr>
              <a:t>論文ごとに2つの値を取る</a:t>
            </a:r>
            <a:endParaRPr lang="ja-JP" sz="1800" dirty="0"/>
          </a:p>
          <a:p>
            <a:pPr marL="457200" lvl="1" indent="-228600">
              <a:spcAft>
                <a:spcPts val="500"/>
              </a:spcAft>
              <a:buSzPct val="100000"/>
              <a:buChar char="•"/>
            </a:pPr>
            <a:r>
              <a:rPr lang="ja-JP" altLang="en-US" sz="1600" dirty="0">
                <a:solidFill>
                  <a:srgbClr val="262626"/>
                </a:solidFill>
                <a:latin typeface="Meiryo" pitchFamily="34" charset="0"/>
                <a:ea typeface="Meiryo" pitchFamily="34" charset="-122"/>
                <a:cs typeface="Meiryo" pitchFamily="34" charset="-120"/>
              </a:rPr>
              <a:t>定石らしさ：</a:t>
            </a:r>
            <a:r>
              <a:rPr lang="ja-JP" altLang="en-US" sz="1600">
                <a:solidFill>
                  <a:srgbClr val="262626"/>
                </a:solidFill>
                <a:latin typeface="Meiryo" pitchFamily="34" charset="0"/>
                <a:ea typeface="Meiryo" pitchFamily="34" charset="-122"/>
                <a:cs typeface="Meiryo" pitchFamily="34" charset="-120"/>
              </a:rPr>
              <a:t>z スコアの</a:t>
            </a:r>
            <a:r>
              <a:rPr lang="ja-JP" altLang="en-US" sz="1600" dirty="0">
                <a:solidFill>
                  <a:srgbClr val="262626"/>
                </a:solidFill>
                <a:latin typeface="Meiryo" pitchFamily="34" charset="0"/>
                <a:ea typeface="Meiryo" pitchFamily="34" charset="-122"/>
                <a:cs typeface="Meiryo" pitchFamily="34" charset="-120"/>
              </a:rPr>
              <a:t>中央値（高いほど、よくある組が中心）</a:t>
            </a:r>
            <a:endParaRPr lang="ja-JP" sz="1800" dirty="0"/>
          </a:p>
          <a:p>
            <a:pPr marL="457200" lvl="1" indent="-228600">
              <a:spcAft>
                <a:spcPts val="500"/>
              </a:spcAft>
              <a:buSzPct val="100000"/>
              <a:buChar char="•"/>
            </a:pPr>
            <a:r>
              <a:rPr lang="ja-JP" altLang="en-US" sz="1600" dirty="0">
                <a:solidFill>
                  <a:srgbClr val="262626"/>
                </a:solidFill>
                <a:latin typeface="Meiryo" pitchFamily="34" charset="0"/>
                <a:ea typeface="Meiryo" pitchFamily="34" charset="-122"/>
                <a:cs typeface="Meiryo" pitchFamily="34" charset="-120"/>
              </a:rPr>
              <a:t>非慣習性：</a:t>
            </a:r>
            <a:r>
              <a:rPr lang="ja-JP" altLang="en-US" sz="1600">
                <a:solidFill>
                  <a:srgbClr val="262626"/>
                </a:solidFill>
                <a:latin typeface="Meiryo" pitchFamily="34" charset="0"/>
                <a:ea typeface="Meiryo" pitchFamily="34" charset="-122"/>
                <a:cs typeface="Meiryo" pitchFamily="34" charset="-120"/>
              </a:rPr>
              <a:t>z スコアの下位10パーセンタイル値</a:t>
            </a:r>
            <a:endParaRPr lang="ja-JP" sz="1800" dirty="0"/>
          </a:p>
        </p:txBody>
      </p:sp>
      <p:sp>
        <p:nvSpPr>
          <p:cNvPr id="6" name="Text 4"/>
          <p:cNvSpPr txBox="1"/>
          <p:nvPr/>
        </p:nvSpPr>
        <p:spPr>
          <a:xfrm>
            <a:off x="548640" y="4206240"/>
            <a:ext cx="11094415" cy="365760"/>
          </a:xfrm>
          <a:prstGeom prst="rect">
            <a:avLst/>
          </a:prstGeom>
          <a:noFill/>
          <a:ln/>
        </p:spPr>
        <p:txBody>
          <a:bodyPr wrap="square" lIns="0" tIns="0" rIns="0" bIns="0" rtlCol="0" anchor="ctr"/>
          <a:lstStyle/>
          <a:p>
            <a:pPr marL="0" indent="0">
              <a:buNone/>
            </a:pPr>
            <a:r>
              <a:rPr lang="ja-JP" altLang="en-US" sz="2000" b="1" dirty="0">
                <a:solidFill>
                  <a:srgbClr val="262626"/>
                </a:solidFill>
                <a:latin typeface="Meiryo" pitchFamily="34" charset="0"/>
                <a:ea typeface="Meiryo" pitchFamily="34" charset="-122"/>
                <a:cs typeface="Meiryo" pitchFamily="34" charset="-120"/>
              </a:rPr>
              <a:t>その他の指標</a:t>
            </a:r>
            <a:endParaRPr lang="ja-JP" sz="2000" dirty="0"/>
          </a:p>
        </p:txBody>
      </p:sp>
      <p:sp>
        <p:nvSpPr>
          <p:cNvPr id="7" name="Text 5"/>
          <p:cNvSpPr txBox="1"/>
          <p:nvPr/>
        </p:nvSpPr>
        <p:spPr>
          <a:xfrm>
            <a:off x="548640" y="4663440"/>
            <a:ext cx="11094415" cy="1645920"/>
          </a:xfrm>
          <a:prstGeom prst="rect">
            <a:avLst/>
          </a:prstGeom>
          <a:noFill/>
          <a:ln/>
        </p:spPr>
        <p:txBody>
          <a:bodyPr wrap="square" lIns="0" tIns="0" rIns="0" bIns="0" rtlCol="0" anchor="t"/>
          <a:lstStyle/>
          <a:p>
            <a:pPr marL="228600" indent="-228600">
              <a:spcAft>
                <a:spcPts val="500"/>
              </a:spcAft>
              <a:buSzPct val="100000"/>
              <a:buChar char="•"/>
            </a:pPr>
            <a:r>
              <a:rPr lang="ja-JP" altLang="en-US" sz="1800" dirty="0">
                <a:solidFill>
                  <a:srgbClr val="262626"/>
                </a:solidFill>
                <a:latin typeface="Meiryo" pitchFamily="34" charset="0"/>
                <a:ea typeface="Meiryo" pitchFamily="34" charset="-122"/>
                <a:cs typeface="Meiryo" pitchFamily="34" charset="-120"/>
              </a:rPr>
              <a:t>破壊性（Wu et al. 2019）：その論文を引用する後続論文のうち、</a:t>
            </a:r>
            <a:br>
              <a:rPr dirty="0"/>
            </a:br>
            <a:r>
              <a:rPr lang="ja-JP" altLang="en-US" sz="1800" dirty="0">
                <a:solidFill>
                  <a:srgbClr val="262626"/>
                </a:solidFill>
                <a:latin typeface="Meiryo" pitchFamily="34" charset="0"/>
                <a:ea typeface="Meiryo" pitchFamily="34" charset="-122"/>
                <a:cs typeface="Meiryo" pitchFamily="34" charset="-120"/>
              </a:rPr>
              <a:t>その論文の参考文献を引用しないものが多いほど高い</a:t>
            </a:r>
            <a:endParaRPr lang="ja-JP" sz="1800" dirty="0"/>
          </a:p>
          <a:p>
            <a:pPr marL="228600" indent="-228600">
              <a:spcAft>
                <a:spcPts val="500"/>
              </a:spcAft>
              <a:buSzPct val="100000"/>
              <a:buChar char="•"/>
            </a:pPr>
            <a:r>
              <a:rPr lang="ja-JP" altLang="en-US" sz="1800" dirty="0">
                <a:solidFill>
                  <a:srgbClr val="262626"/>
                </a:solidFill>
                <a:latin typeface="Meiryo" pitchFamily="34" charset="0"/>
                <a:ea typeface="Meiryo" pitchFamily="34" charset="-122"/>
                <a:cs typeface="Meiryo" pitchFamily="34" charset="-120"/>
              </a:rPr>
              <a:t>10年被引用：出版後10年間の被引用数</a:t>
            </a:r>
            <a:endParaRPr lang="ja-JP" sz="1800" dirty="0"/>
          </a:p>
          <a:p>
            <a:pPr marL="228600" indent="-228600">
              <a:spcAft>
                <a:spcPts val="500"/>
              </a:spcAft>
              <a:buSzPct val="100000"/>
              <a:buChar char="•"/>
            </a:pPr>
            <a:r>
              <a:rPr lang="ja-JP" altLang="en-US" sz="1800" dirty="0">
                <a:solidFill>
                  <a:srgbClr val="262626"/>
                </a:solidFill>
                <a:latin typeface="Meiryo" pitchFamily="34" charset="0"/>
                <a:ea typeface="Meiryo" pitchFamily="34" charset="-122"/>
                <a:cs typeface="Meiryo" pitchFamily="34" charset="-120"/>
              </a:rPr>
              <a:t>順位：同じ分野・同じ年の一般論文の中で</a:t>
            </a:r>
            <a:r>
              <a:rPr lang="ja-JP" altLang="en-US" sz="1800">
                <a:solidFill>
                  <a:srgbClr val="262626"/>
                </a:solidFill>
                <a:latin typeface="Meiryo" pitchFamily="34" charset="0"/>
                <a:ea typeface="Meiryo" pitchFamily="34" charset="-122"/>
                <a:cs typeface="Meiryo" pitchFamily="34" charset="-120"/>
              </a:rPr>
              <a:t>の位置（百分率、大きい方が高順位）</a:t>
            </a:r>
            <a:endParaRPr lang="ja-JP"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1. SciSciNet 公開値の検証</a:t>
            </a:r>
            <a:endParaRPr lang="ja-JP" sz="26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ja-JP" altLang="en-US" sz="1600" dirty="0">
                <a:solidFill>
                  <a:srgbClr val="595959"/>
                </a:solidFill>
                <a:latin typeface="Meiryo" pitchFamily="34" charset="0"/>
                <a:ea typeface="Meiryo" pitchFamily="34" charset="-122"/>
                <a:cs typeface="Meiryo" pitchFamily="34" charset="-120"/>
              </a:rPr>
              <a:t>同じ指標を自前でも計算し、両方に値がある 490件</a:t>
            </a:r>
            <a:r>
              <a:rPr lang="ja-JP" altLang="en-US" sz="1600">
                <a:solidFill>
                  <a:srgbClr val="595959"/>
                </a:solidFill>
                <a:latin typeface="Meiryo" pitchFamily="34" charset="0"/>
                <a:ea typeface="Meiryo" pitchFamily="34" charset="-122"/>
                <a:cs typeface="Meiryo" pitchFamily="34" charset="-120"/>
              </a:rPr>
              <a:t>で比較</a:t>
            </a:r>
            <a:endParaRPr lang="ja-JP" sz="1600" dirty="0"/>
          </a:p>
        </p:txBody>
      </p:sp>
      <p:sp>
        <p:nvSpPr>
          <p:cNvPr id="4" name="Text 2"/>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6</a:t>
            </a:r>
            <a:endParaRPr lang="ja-JP" sz="1200" dirty="0"/>
          </a:p>
        </p:txBody>
      </p:sp>
      <p:sp>
        <p:nvSpPr>
          <p:cNvPr id="6" name="Text 3"/>
          <p:cNvSpPr txBox="1"/>
          <p:nvPr/>
        </p:nvSpPr>
        <p:spPr>
          <a:xfrm>
            <a:off x="8012798" y="2000091"/>
            <a:ext cx="4419295" cy="4572000"/>
          </a:xfrm>
          <a:prstGeom prst="rect">
            <a:avLst/>
          </a:prstGeom>
          <a:noFill/>
          <a:ln/>
        </p:spPr>
        <p:txBody>
          <a:bodyPr wrap="square" lIns="0" tIns="0" rIns="0" bIns="0" rtlCol="0" anchor="t"/>
          <a:lstStyle/>
          <a:p>
            <a:pPr marL="228600" indent="-228600">
              <a:spcAft>
                <a:spcPts val="1200"/>
              </a:spcAft>
              <a:buSzPct val="100000"/>
              <a:buChar char="•"/>
            </a:pPr>
            <a:r>
              <a:rPr lang="ja-JP" altLang="en-US" sz="1800" dirty="0">
                <a:solidFill>
                  <a:srgbClr val="262626"/>
                </a:solidFill>
                <a:latin typeface="Meiryo" pitchFamily="34" charset="0"/>
                <a:ea typeface="Meiryo" pitchFamily="34" charset="-122"/>
                <a:cs typeface="Meiryo" pitchFamily="34" charset="-120"/>
              </a:rPr>
              <a:t>並び順はよく一致</a:t>
            </a:r>
            <a:br>
              <a:rPr dirty="0"/>
            </a:br>
            <a:r>
              <a:rPr lang="ja-JP" altLang="en-US" sz="1800" dirty="0">
                <a:solidFill>
                  <a:srgbClr val="262626"/>
                </a:solidFill>
                <a:latin typeface="Meiryo" pitchFamily="34" charset="0"/>
                <a:ea typeface="Meiryo" pitchFamily="34" charset="-122"/>
                <a:cs typeface="Meiryo" pitchFamily="34" charset="-120"/>
              </a:rPr>
              <a:t>（順位相関：定石らしさ 0.82、</a:t>
            </a:r>
            <a:br>
              <a:rPr dirty="0"/>
            </a:br>
            <a:r>
              <a:rPr lang="ja-JP" altLang="en-US" sz="1800" dirty="0">
                <a:solidFill>
                  <a:srgbClr val="262626"/>
                </a:solidFill>
                <a:latin typeface="Meiryo" pitchFamily="34" charset="0"/>
                <a:ea typeface="Meiryo" pitchFamily="34" charset="-122"/>
                <a:cs typeface="Meiryo" pitchFamily="34" charset="-120"/>
              </a:rPr>
              <a:t>非慣習性 0.90）</a:t>
            </a:r>
            <a:endParaRPr lang="ja-JP" sz="1800" dirty="0"/>
          </a:p>
          <a:p>
            <a:pPr marL="228600" indent="-228600">
              <a:spcAft>
                <a:spcPts val="1200"/>
              </a:spcAft>
              <a:buSzPct val="100000"/>
              <a:buChar char="•"/>
            </a:pPr>
            <a:r>
              <a:rPr lang="ja-JP" altLang="en-US" sz="1800" dirty="0">
                <a:solidFill>
                  <a:srgbClr val="262626"/>
                </a:solidFill>
                <a:latin typeface="Meiryo" pitchFamily="34" charset="0"/>
                <a:ea typeface="Meiryo" pitchFamily="34" charset="-122"/>
                <a:cs typeface="Meiryo" pitchFamily="34" charset="-120"/>
              </a:rPr>
              <a:t>値の大きさは一致しない</a:t>
            </a:r>
            <a:br>
              <a:rPr dirty="0"/>
            </a:br>
            <a:r>
              <a:rPr lang="ja-JP" altLang="en-US" sz="1800" dirty="0">
                <a:solidFill>
                  <a:srgbClr val="262626"/>
                </a:solidFill>
                <a:latin typeface="Meiryo" pitchFamily="34" charset="0"/>
                <a:ea typeface="Meiryo" pitchFamily="34" charset="-122"/>
                <a:cs typeface="Meiryo" pitchFamily="34" charset="-120"/>
              </a:rPr>
              <a:t>（定石らしさの中央値：</a:t>
            </a:r>
            <a:br>
              <a:rPr dirty="0"/>
            </a:br>
            <a:r>
              <a:rPr lang="ja-JP" altLang="en-US" sz="1800" dirty="0">
                <a:solidFill>
                  <a:srgbClr val="262626"/>
                </a:solidFill>
                <a:latin typeface="Meiryo" pitchFamily="34" charset="0"/>
                <a:ea typeface="Meiryo" pitchFamily="34" charset="-122"/>
                <a:cs typeface="Meiryo" pitchFamily="34" charset="-120"/>
              </a:rPr>
              <a:t>自前 113、公開 217）</a:t>
            </a:r>
            <a:endParaRPr lang="ja-JP" sz="1800" dirty="0"/>
          </a:p>
          <a:p>
            <a:pPr marL="228600" indent="-228600">
              <a:spcAft>
                <a:spcPts val="1200"/>
              </a:spcAft>
              <a:buSzPct val="100000"/>
              <a:buChar char="•"/>
            </a:pPr>
            <a:r>
              <a:rPr lang="ja-JP" altLang="en-US" sz="1800" dirty="0">
                <a:solidFill>
                  <a:srgbClr val="262626"/>
                </a:solidFill>
                <a:latin typeface="Meiryo" pitchFamily="34" charset="0"/>
                <a:ea typeface="Meiryo" pitchFamily="34" charset="-122"/>
                <a:cs typeface="Meiryo" pitchFamily="34" charset="-120"/>
              </a:rPr>
              <a:t>原因は、掲載誌の決め方など</a:t>
            </a:r>
            <a:br>
              <a:rPr dirty="0"/>
            </a:br>
            <a:r>
              <a:rPr lang="ja-JP" altLang="en-US" sz="1800" dirty="0">
                <a:solidFill>
                  <a:srgbClr val="262626"/>
                </a:solidFill>
                <a:latin typeface="Meiryo" pitchFamily="34" charset="0"/>
                <a:ea typeface="Meiryo" pitchFamily="34" charset="-122"/>
                <a:cs typeface="Meiryo" pitchFamily="34" charset="-120"/>
              </a:rPr>
              <a:t>計算条件の一部が非公開であること</a:t>
            </a:r>
            <a:endParaRPr lang="ja-JP" sz="1800" dirty="0"/>
          </a:p>
          <a:p>
            <a:pPr marL="228600" indent="-228600">
              <a:spcAft>
                <a:spcPts val="1200"/>
              </a:spcAft>
              <a:buSzPct val="100000"/>
              <a:buChar char="•"/>
            </a:pPr>
            <a:r>
              <a:rPr lang="ja-JP" altLang="en-US" sz="1800" dirty="0">
                <a:solidFill>
                  <a:srgbClr val="FF0000"/>
                </a:solidFill>
                <a:latin typeface="Meiryo" pitchFamily="34" charset="0"/>
                <a:ea typeface="Meiryo" pitchFamily="34" charset="-122"/>
                <a:cs typeface="Meiryo" pitchFamily="34" charset="-120"/>
              </a:rPr>
              <a:t>以降の分析は公開値</a:t>
            </a:r>
            <a:r>
              <a:rPr lang="ja-JP" altLang="en-US" sz="1800">
                <a:solidFill>
                  <a:srgbClr val="FF0000"/>
                </a:solidFill>
                <a:latin typeface="Meiryo" pitchFamily="34" charset="0"/>
                <a:ea typeface="Meiryo" pitchFamily="34" charset="-122"/>
                <a:cs typeface="Meiryo" pitchFamily="34" charset="-120"/>
              </a:rPr>
              <a:t>を使用</a:t>
            </a:r>
            <a:endParaRPr lang="ja-JP" sz="1800" dirty="0">
              <a:solidFill>
                <a:srgbClr val="FF0000"/>
              </a:solidFill>
            </a:endParaRPr>
          </a:p>
        </p:txBody>
      </p:sp>
      <p:pic>
        <p:nvPicPr>
          <p:cNvPr id="7" name="Picture 6" descr="A graph of different sizes and numbers&#10;&#10;AI-generated content may be incorrect.">
            <a:extLst>
              <a:ext uri="{FF2B5EF4-FFF2-40B4-BE49-F238E27FC236}">
                <a16:creationId xmlns:a16="http://schemas.microsoft.com/office/drawing/2014/main" id="{150AAC29-9736-DC4D-2250-851FDC21CCE8}"/>
              </a:ext>
            </a:extLst>
          </p:cNvPr>
          <p:cNvPicPr>
            <a:picLocks noChangeAspect="1"/>
          </p:cNvPicPr>
          <p:nvPr/>
        </p:nvPicPr>
        <p:blipFill>
          <a:blip r:embed="rId3"/>
          <a:stretch>
            <a:fillRect/>
          </a:stretch>
        </p:blipFill>
        <p:spPr>
          <a:xfrm>
            <a:off x="115528" y="2000091"/>
            <a:ext cx="7772400" cy="3358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2. 一般論文との</a:t>
            </a:r>
            <a:r>
              <a:rPr lang="ja-JP" altLang="en-US" sz="2600" b="1">
                <a:solidFill>
                  <a:srgbClr val="1F3864"/>
                </a:solidFill>
                <a:latin typeface="Meiryo" pitchFamily="34" charset="0"/>
                <a:ea typeface="Meiryo" pitchFamily="34" charset="-122"/>
                <a:cs typeface="Meiryo" pitchFamily="34" charset="-120"/>
              </a:rPr>
              <a:t>比較（トヨタ系列全体</a:t>
            </a:r>
            <a:r>
              <a:rPr lang="ja-JP" altLang="en-US" sz="2600" b="1" dirty="0">
                <a:solidFill>
                  <a:srgbClr val="1F3864"/>
                </a:solidFill>
                <a:latin typeface="Meiryo" pitchFamily="34" charset="0"/>
                <a:ea typeface="Meiryo" pitchFamily="34" charset="-122"/>
                <a:cs typeface="Meiryo" pitchFamily="34" charset="-120"/>
              </a:rPr>
              <a:t>）</a:t>
            </a:r>
            <a:endParaRPr lang="ja-JP" sz="26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ja-JP" altLang="en-US" sz="1600" dirty="0">
                <a:solidFill>
                  <a:srgbClr val="595959"/>
                </a:solidFill>
                <a:latin typeface="Meiryo" pitchFamily="34" charset="0"/>
                <a:ea typeface="Meiryo" pitchFamily="34" charset="-122"/>
                <a:cs typeface="Meiryo" pitchFamily="34" charset="-120"/>
              </a:rPr>
              <a:t>同じ分野・同じ年の一般論文（43万2千件）の中で</a:t>
            </a:r>
            <a:r>
              <a:rPr lang="ja-JP" altLang="en-US" sz="1600">
                <a:solidFill>
                  <a:srgbClr val="595959"/>
                </a:solidFill>
                <a:latin typeface="Meiryo" pitchFamily="34" charset="0"/>
                <a:ea typeface="Meiryo" pitchFamily="34" charset="-122"/>
                <a:cs typeface="Meiryo" pitchFamily="34" charset="-120"/>
              </a:rPr>
              <a:t>の順位の中央値</a:t>
            </a:r>
            <a:endParaRPr lang="ja-JP" sz="1600" dirty="0"/>
          </a:p>
        </p:txBody>
      </p:sp>
      <p:sp>
        <p:nvSpPr>
          <p:cNvPr id="4" name="Text 2"/>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7</a:t>
            </a:r>
            <a:endParaRPr lang="ja-JP" sz="1200" dirty="0"/>
          </a:p>
        </p:txBody>
      </p:sp>
      <p:graphicFrame>
        <p:nvGraphicFramePr>
          <p:cNvPr id="8" name="Table 0"/>
          <p:cNvGraphicFramePr>
            <a:graphicFrameLocks noGrp="1"/>
          </p:cNvGraphicFramePr>
          <p:nvPr>
            <p:extLst>
              <p:ext uri="{D42A27DB-BD31-4B8C-83A1-F6EECF244321}">
                <p14:modId xmlns:p14="http://schemas.microsoft.com/office/powerpoint/2010/main" val="2670588223"/>
              </p:ext>
            </p:extLst>
          </p:nvPr>
        </p:nvGraphicFramePr>
        <p:xfrm>
          <a:off x="548640" y="1600200"/>
          <a:ext cx="11094415" cy="2103120"/>
        </p:xfrm>
        <a:graphic>
          <a:graphicData uri="http://schemas.openxmlformats.org/drawingml/2006/table">
            <a:tbl>
              <a:tblPr/>
              <a:tblGrid>
                <a:gridCol w="3291840">
                  <a:extLst>
                    <a:ext uri="{9D8B030D-6E8A-4147-A177-3AD203B41FA5}">
                      <a16:colId xmlns:a16="http://schemas.microsoft.com/office/drawing/2014/main" val="20000"/>
                    </a:ext>
                  </a:extLst>
                </a:gridCol>
                <a:gridCol w="1947672">
                  <a:extLst>
                    <a:ext uri="{9D8B030D-6E8A-4147-A177-3AD203B41FA5}">
                      <a16:colId xmlns:a16="http://schemas.microsoft.com/office/drawing/2014/main" val="20001"/>
                    </a:ext>
                  </a:extLst>
                </a:gridCol>
                <a:gridCol w="1947672">
                  <a:extLst>
                    <a:ext uri="{9D8B030D-6E8A-4147-A177-3AD203B41FA5}">
                      <a16:colId xmlns:a16="http://schemas.microsoft.com/office/drawing/2014/main" val="20002"/>
                    </a:ext>
                  </a:extLst>
                </a:gridCol>
                <a:gridCol w="1947672">
                  <a:extLst>
                    <a:ext uri="{9D8B030D-6E8A-4147-A177-3AD203B41FA5}">
                      <a16:colId xmlns:a16="http://schemas.microsoft.com/office/drawing/2014/main" val="20003"/>
                    </a:ext>
                  </a:extLst>
                </a:gridCol>
                <a:gridCol w="1959559">
                  <a:extLst>
                    <a:ext uri="{9D8B030D-6E8A-4147-A177-3AD203B41FA5}">
                      <a16:colId xmlns:a16="http://schemas.microsoft.com/office/drawing/2014/main" val="20004"/>
                    </a:ext>
                  </a:extLst>
                </a:gridCol>
              </a:tblGrid>
              <a:tr h="420624">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揃えた条件</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非慣習性</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定石らしさ</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破壊性</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10年被引用</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分野・年のみ</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54.1</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54.5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b="1" dirty="0">
                          <a:solidFill>
                            <a:srgbClr val="FF0000"/>
                          </a:solidFill>
                          <a:latin typeface="Meiryo" pitchFamily="34" charset="0"/>
                          <a:ea typeface="Meiryo" pitchFamily="34" charset="-122"/>
                          <a:cs typeface="Meiryo" pitchFamily="34" charset="-120"/>
                        </a:rPr>
                        <a:t>40.0</a:t>
                      </a:r>
                      <a:endParaRPr lang="ja-JP" sz="1800" dirty="0">
                        <a:solidFill>
                          <a:srgbClr val="FF0000"/>
                        </a:solidFill>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b="1" dirty="0">
                          <a:solidFill>
                            <a:srgbClr val="FF0000"/>
                          </a:solidFill>
                          <a:latin typeface="Meiryo" pitchFamily="34" charset="0"/>
                          <a:ea typeface="Meiryo" pitchFamily="34" charset="-122"/>
                          <a:cs typeface="Meiryo" pitchFamily="34" charset="-120"/>
                        </a:rPr>
                        <a:t>65.1</a:t>
                      </a:r>
                      <a:endParaRPr lang="ja-JP" sz="1800" dirty="0">
                        <a:solidFill>
                          <a:srgbClr val="FF0000"/>
                        </a:solidFill>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分野・年＋参考文献数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52.6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56.0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49.5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59.0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分野・年＋チーム規模</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53.7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55.2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49.6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52.3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分野・年＋両方</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52.8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56.5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50.2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50.8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548640" y="3977640"/>
            <a:ext cx="11094415" cy="2377440"/>
          </a:xfrm>
          <a:prstGeom prst="rect">
            <a:avLst/>
          </a:prstGeom>
          <a:noFill/>
          <a:ln/>
        </p:spPr>
        <p:txBody>
          <a:bodyPr wrap="square" lIns="0" tIns="0" rIns="0" bIns="0" rtlCol="0" anchor="t"/>
          <a:lstStyle/>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分野と年のみ揃えると、10年被引用は高く（65.1）、破壊性は低い（40.0）</a:t>
            </a:r>
            <a:endParaRPr lang="ja-JP" sz="1800" dirty="0"/>
          </a:p>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トヨタの論文は一般論文より、著者数（5人 対 3人）も参考文献数（35本 対 28本）</a:t>
            </a:r>
            <a:r>
              <a:rPr lang="ja-JP" altLang="en-US" sz="1800">
                <a:solidFill>
                  <a:srgbClr val="262626"/>
                </a:solidFill>
                <a:latin typeface="Meiryo" pitchFamily="34" charset="0"/>
                <a:ea typeface="Meiryo" pitchFamily="34" charset="-122"/>
                <a:cs typeface="Meiryo" pitchFamily="34" charset="-120"/>
              </a:rPr>
              <a:t>も多い</a:t>
            </a:r>
            <a:endParaRPr lang="en-US" altLang="ja-JP" sz="1800" dirty="0">
              <a:solidFill>
                <a:srgbClr val="262626"/>
              </a:solidFill>
              <a:latin typeface="Meiryo" pitchFamily="34" charset="0"/>
              <a:ea typeface="Meiryo" pitchFamily="34" charset="-122"/>
              <a:cs typeface="Meiryo" pitchFamily="34" charset="-120"/>
            </a:endParaRPr>
          </a:p>
          <a:p>
            <a:pPr marL="228600" indent="-228600">
              <a:spcAft>
                <a:spcPts val="800"/>
              </a:spcAft>
              <a:buSzPct val="100000"/>
              <a:buChar char="•"/>
            </a:pPr>
            <a:r>
              <a:rPr lang="ja-JP" altLang="en-US" sz="1800">
                <a:solidFill>
                  <a:srgbClr val="262626"/>
                </a:solidFill>
                <a:latin typeface="Meiryo" pitchFamily="34" charset="0"/>
                <a:ea typeface="Meiryo" pitchFamily="34" charset="-122"/>
                <a:cs typeface="Meiryo" pitchFamily="34" charset="-120"/>
              </a:rPr>
              <a:t>新規性</a:t>
            </a:r>
            <a:r>
              <a:rPr lang="ja-JP" altLang="en-US" sz="1800" dirty="0">
                <a:solidFill>
                  <a:srgbClr val="262626"/>
                </a:solidFill>
                <a:latin typeface="Meiryo" pitchFamily="34" charset="0"/>
                <a:ea typeface="Meiryo" pitchFamily="34" charset="-122"/>
                <a:cs typeface="Meiryo" pitchFamily="34" charset="-120"/>
              </a:rPr>
              <a:t>（非慣習性・定石らしさ）は、どの条件でも52〜57で中央付近</a:t>
            </a:r>
            <a:endParaRPr lang="ja-JP"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2. 一般論文との比較（組織別）</a:t>
            </a:r>
            <a:endParaRPr lang="ja-JP" sz="26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ja-JP" altLang="en-US" sz="1600" dirty="0">
                <a:solidFill>
                  <a:srgbClr val="595959"/>
                </a:solidFill>
                <a:latin typeface="Meiryo" pitchFamily="34" charset="0"/>
                <a:ea typeface="Meiryo" pitchFamily="34" charset="-122"/>
                <a:cs typeface="Meiryo" pitchFamily="34" charset="-120"/>
              </a:rPr>
              <a:t>参考文献数と</a:t>
            </a:r>
            <a:r>
              <a:rPr lang="ja-JP" altLang="en-US" sz="1600">
                <a:solidFill>
                  <a:srgbClr val="595959"/>
                </a:solidFill>
                <a:latin typeface="Meiryo" pitchFamily="34" charset="0"/>
                <a:ea typeface="Meiryo" pitchFamily="34" charset="-122"/>
                <a:cs typeface="Meiryo" pitchFamily="34" charset="-120"/>
              </a:rPr>
              <a:t>チーム規模をマッチングした中での順位の中央値</a:t>
            </a:r>
            <a:endParaRPr lang="ja-JP" sz="1600" dirty="0"/>
          </a:p>
        </p:txBody>
      </p:sp>
      <p:sp>
        <p:nvSpPr>
          <p:cNvPr id="4" name="Text 2"/>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8</a:t>
            </a:r>
            <a:endParaRPr lang="ja-JP"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2523744"/>
        </p:xfrm>
        <a:graphic>
          <a:graphicData uri="http://schemas.openxmlformats.org/drawingml/2006/table">
            <a:tbl>
              <a:tblPr/>
              <a:tblGrid>
                <a:gridCol w="31089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700784">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gridCol w="1700784">
                  <a:extLst>
                    <a:ext uri="{9D8B030D-6E8A-4147-A177-3AD203B41FA5}">
                      <a16:colId xmlns:a16="http://schemas.microsoft.com/office/drawing/2014/main" val="20004"/>
                    </a:ext>
                  </a:extLst>
                </a:gridCol>
                <a:gridCol w="1694383">
                  <a:extLst>
                    <a:ext uri="{9D8B030D-6E8A-4147-A177-3AD203B41FA5}">
                      <a16:colId xmlns:a16="http://schemas.microsoft.com/office/drawing/2014/main" val="20005"/>
                    </a:ext>
                  </a:extLst>
                </a:gridCol>
              </a:tblGrid>
              <a:tr h="420624">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組織</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件数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非慣習性</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定石らしさ</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破壊性</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10年被引用</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豊田中央研究所</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268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63.3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56.6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50.1</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50.8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未来創成センター</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69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59.2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48.0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52.0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48.3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AISIN IMRA（日本）</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72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41.6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51.3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53.0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44.0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AISIN IMRA（米国）</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124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35.9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64.0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48.4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79.7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トヨタ全体</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533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52.8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56.5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50.2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50.8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txBox="1"/>
          <p:nvPr/>
        </p:nvSpPr>
        <p:spPr>
          <a:xfrm>
            <a:off x="548640" y="4434840"/>
            <a:ext cx="11094415" cy="1828800"/>
          </a:xfrm>
          <a:prstGeom prst="rect">
            <a:avLst/>
          </a:prstGeom>
          <a:noFill/>
          <a:ln/>
        </p:spPr>
        <p:txBody>
          <a:bodyPr wrap="square" lIns="0" tIns="0" rIns="0" bIns="0" rtlCol="0" anchor="t"/>
          <a:lstStyle/>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非慣習性：豊田中研・未来創成は 59〜63、AISIN IMRA は 36</a:t>
            </a:r>
            <a:r>
              <a:rPr lang="ja-JP" altLang="en-US" sz="1800">
                <a:solidFill>
                  <a:srgbClr val="262626"/>
                </a:solidFill>
                <a:latin typeface="Meiryo" pitchFamily="34" charset="0"/>
                <a:ea typeface="Meiryo" pitchFamily="34" charset="-122"/>
                <a:cs typeface="Meiryo" pitchFamily="34" charset="-120"/>
              </a:rPr>
              <a:t>〜42</a:t>
            </a:r>
            <a:endParaRPr lang="ja-JP" sz="1800"/>
          </a:p>
          <a:p>
            <a:pPr marL="228600" indent="-228600">
              <a:spcAft>
                <a:spcPts val="800"/>
              </a:spcAft>
              <a:buSzPct val="100000"/>
              <a:buChar char="•"/>
            </a:pPr>
            <a:r>
              <a:rPr lang="ja-JP" altLang="en-US" sz="1800">
                <a:solidFill>
                  <a:srgbClr val="262626"/>
                </a:solidFill>
                <a:latin typeface="Meiryo" pitchFamily="34" charset="0"/>
                <a:ea typeface="Meiryo" pitchFamily="34" charset="-122"/>
                <a:cs typeface="Meiryo" pitchFamily="34" charset="-120"/>
              </a:rPr>
              <a:t>10年被引用は AISIN IMRA（米国）のみ高い（79.7）。理由は未調査</a:t>
            </a:r>
            <a:endParaRPr lang="ja-JP"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3. 新規性の要因の検証</a:t>
            </a:r>
            <a:endParaRPr lang="ja-JP" sz="26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ja-JP" altLang="en-US" sz="1600" dirty="0">
                <a:solidFill>
                  <a:srgbClr val="595959"/>
                </a:solidFill>
                <a:latin typeface="Meiryo" pitchFamily="34" charset="0"/>
                <a:ea typeface="Meiryo" pitchFamily="34" charset="-122"/>
                <a:cs typeface="Meiryo" pitchFamily="34" charset="-120"/>
              </a:rPr>
              <a:t>非慣習性の順位（分野・年のみ揃えたもの）を、参考文献数と引用分野の</a:t>
            </a:r>
            <a:r>
              <a:rPr lang="ja-JP" altLang="en-US" sz="1600">
                <a:solidFill>
                  <a:srgbClr val="595959"/>
                </a:solidFill>
                <a:latin typeface="Meiryo" pitchFamily="34" charset="0"/>
                <a:ea typeface="Meiryo" pitchFamily="34" charset="-122"/>
                <a:cs typeface="Meiryo" pitchFamily="34" charset="-120"/>
              </a:rPr>
              <a:t>広さを統制して</a:t>
            </a:r>
            <a:r>
              <a:rPr lang="ja-JP" altLang="en-US" sz="1600" dirty="0">
                <a:solidFill>
                  <a:srgbClr val="595959"/>
                </a:solidFill>
                <a:latin typeface="Meiryo" pitchFamily="34" charset="0"/>
                <a:ea typeface="Meiryo" pitchFamily="34" charset="-122"/>
                <a:cs typeface="Meiryo" pitchFamily="34" charset="-120"/>
              </a:rPr>
              <a:t>検証</a:t>
            </a:r>
            <a:endParaRPr lang="ja-JP" sz="1600" dirty="0"/>
          </a:p>
        </p:txBody>
      </p:sp>
      <p:sp>
        <p:nvSpPr>
          <p:cNvPr id="4" name="Text 2"/>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9</a:t>
            </a:r>
            <a:endParaRPr lang="ja-JP" sz="1200" dirty="0"/>
          </a:p>
        </p:txBody>
      </p:sp>
      <p:graphicFrame>
        <p:nvGraphicFramePr>
          <p:cNvPr id="10" name="Table 0"/>
          <p:cNvGraphicFramePr>
            <a:graphicFrameLocks noGrp="1"/>
          </p:cNvGraphicFramePr>
          <p:nvPr>
            <p:extLst>
              <p:ext uri="{D42A27DB-BD31-4B8C-83A1-F6EECF244321}">
                <p14:modId xmlns:p14="http://schemas.microsoft.com/office/powerpoint/2010/main" val="2861810243"/>
              </p:ext>
            </p:extLst>
          </p:nvPr>
        </p:nvGraphicFramePr>
        <p:xfrm>
          <a:off x="548640" y="1600200"/>
          <a:ext cx="11094415" cy="3026664"/>
        </p:xfrm>
        <a:graphic>
          <a:graphicData uri="http://schemas.openxmlformats.org/drawingml/2006/table">
            <a:tbl>
              <a:tblPr/>
              <a:tblGrid>
                <a:gridCol w="21945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465015">
                  <a:extLst>
                    <a:ext uri="{9D8B030D-6E8A-4147-A177-3AD203B41FA5}">
                      <a16:colId xmlns:a16="http://schemas.microsoft.com/office/drawing/2014/main" val="20003"/>
                    </a:ext>
                  </a:extLst>
                </a:gridCol>
              </a:tblGrid>
              <a:tr h="411480">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要因</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先行研究</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件数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結果</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73152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チーム規模</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Uzzi et al. 2013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533件</a:t>
                      </a:r>
                      <a:endParaRPr lang="ja-JP" sz="1800" dirty="0">
                        <a:latin typeface="Meiryo" charset="0"/>
                        <a:ea typeface="Meiryo" charset="0"/>
                        <a:cs typeface="Meiryo" charset="0"/>
                      </a:endParaRPr>
                    </a:p>
                    <a:p>
                      <a:pPr marL="0" indent="0" algn="ctr">
                        <a:buNone/>
                      </a:pPr>
                      <a:r>
                        <a:rPr lang="ja-JP" altLang="en-US" sz="1800" dirty="0">
                          <a:solidFill>
                            <a:srgbClr val="262626"/>
                          </a:solidFill>
                          <a:latin typeface="Meiryo" pitchFamily="34" charset="0"/>
                          <a:ea typeface="Meiryo" pitchFamily="34" charset="-122"/>
                          <a:cs typeface="Meiryo" pitchFamily="34" charset="-120"/>
                        </a:rPr>
                        <a:t>（単著 13件）</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関係なし（p=0.39）</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単著が少なく、チーム対単著は比較不可</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国際共同</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Wagner et al. 2019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96件</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関係なし（p=0.81）</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件数</a:t>
                      </a:r>
                      <a:r>
                        <a:rPr lang="ja-JP" altLang="en-US" sz="1800">
                          <a:solidFill>
                            <a:srgbClr val="262626"/>
                          </a:solidFill>
                          <a:latin typeface="Meiryo" pitchFamily="34" charset="0"/>
                          <a:ea typeface="Meiryo" pitchFamily="34" charset="-122"/>
                          <a:cs typeface="Meiryo" pitchFamily="34" charset="-120"/>
                        </a:rPr>
                        <a:t>が少なく検証できていない</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産学連携</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a:solidFill>
                            <a:srgbClr val="262626"/>
                          </a:solidFill>
                          <a:latin typeface="Meiryo" pitchFamily="34" charset="0"/>
                          <a:ea typeface="Meiryo" pitchFamily="34" charset="-122"/>
                          <a:cs typeface="Meiryo" pitchFamily="34" charset="-120"/>
                        </a:rPr>
                        <a:t>なし</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224件</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やや高い（59.1 対 53.0）</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差は明確でない（p=0.06）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組織をまたぐ共同</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a:solidFill>
                            <a:srgbClr val="262626"/>
                          </a:solidFill>
                          <a:latin typeface="Meiryo" pitchFamily="34" charset="0"/>
                          <a:ea typeface="Meiryo" pitchFamily="34" charset="-122"/>
                          <a:cs typeface="Meiryo" pitchFamily="34" charset="-120"/>
                        </a:rPr>
                        <a:t>なし</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53件</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差なし（p=0.85）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548640" y="4937760"/>
            <a:ext cx="11094415" cy="365760"/>
          </a:xfrm>
          <a:prstGeom prst="rect">
            <a:avLst/>
          </a:prstGeom>
          <a:noFill/>
          <a:ln/>
        </p:spPr>
        <p:txBody>
          <a:bodyPr wrap="square" lIns="0" tIns="0" rIns="0" bIns="0" rtlCol="0" anchor="ctr"/>
          <a:lstStyle/>
          <a:p>
            <a:pPr marL="0" indent="0">
              <a:buNone/>
            </a:pPr>
            <a:r>
              <a:rPr lang="ja-JP" altLang="en-US" sz="2000" b="1" dirty="0">
                <a:solidFill>
                  <a:srgbClr val="262626"/>
                </a:solidFill>
                <a:latin typeface="Meiryo" pitchFamily="34" charset="0"/>
                <a:ea typeface="Meiryo" pitchFamily="34" charset="-122"/>
                <a:cs typeface="Meiryo" pitchFamily="34" charset="-120"/>
              </a:rPr>
              <a:t>組織による差</a:t>
            </a:r>
            <a:endParaRPr lang="ja-JP" sz="2000" dirty="0"/>
          </a:p>
        </p:txBody>
      </p:sp>
      <p:sp>
        <p:nvSpPr>
          <p:cNvPr id="7" name="Text 4"/>
          <p:cNvSpPr txBox="1"/>
          <p:nvPr/>
        </p:nvSpPr>
        <p:spPr>
          <a:xfrm>
            <a:off x="548640" y="5394960"/>
            <a:ext cx="11094415" cy="914400"/>
          </a:xfrm>
          <a:prstGeom prst="rect">
            <a:avLst/>
          </a:prstGeom>
          <a:noFill/>
          <a:ln/>
        </p:spPr>
        <p:txBody>
          <a:bodyPr wrap="square" lIns="0" tIns="0" rIns="0" bIns="0" rtlCol="0" anchor="t"/>
          <a:lstStyle/>
          <a:p>
            <a:pPr marL="228600" indent="-228600">
              <a:spcAft>
                <a:spcPts val="600"/>
              </a:spcAft>
              <a:buSzPct val="100000"/>
              <a:buChar char="•"/>
            </a:pPr>
            <a:r>
              <a:rPr lang="ja-JP" altLang="en-US" sz="1800">
                <a:solidFill>
                  <a:srgbClr val="262626"/>
                </a:solidFill>
                <a:latin typeface="Meiryo" pitchFamily="34" charset="0"/>
                <a:ea typeface="Meiryo" pitchFamily="34" charset="-122"/>
                <a:cs typeface="Meiryo" pitchFamily="34" charset="-120"/>
              </a:rPr>
              <a:t>一部指標は参考文献数に大きく依存するが引用分</a:t>
            </a:r>
            <a:r>
              <a:rPr lang="ja-JP" altLang="en-US" sz="1800" dirty="0">
                <a:solidFill>
                  <a:srgbClr val="262626"/>
                </a:solidFill>
                <a:latin typeface="Meiryo" pitchFamily="34" charset="0"/>
                <a:ea typeface="Meiryo" pitchFamily="34" charset="-122"/>
                <a:cs typeface="Meiryo" pitchFamily="34" charset="-120"/>
              </a:rPr>
              <a:t>野の広さと参考</a:t>
            </a:r>
            <a:r>
              <a:rPr lang="ja-JP" altLang="en-US" sz="1800">
                <a:solidFill>
                  <a:srgbClr val="262626"/>
                </a:solidFill>
                <a:latin typeface="Meiryo" pitchFamily="34" charset="0"/>
                <a:ea typeface="Meiryo" pitchFamily="34" charset="-122"/>
                <a:cs typeface="Meiryo" pitchFamily="34" charset="-120"/>
              </a:rPr>
              <a:t>文献数を正規化して</a:t>
            </a:r>
            <a:r>
              <a:rPr lang="ja-JP" altLang="en-US" sz="1800" dirty="0">
                <a:solidFill>
                  <a:srgbClr val="262626"/>
                </a:solidFill>
                <a:latin typeface="Meiryo" pitchFamily="34" charset="0"/>
                <a:ea typeface="Meiryo" pitchFamily="34" charset="-122"/>
                <a:cs typeface="Meiryo" pitchFamily="34" charset="-120"/>
              </a:rPr>
              <a:t>も残る（p=0.03）</a:t>
            </a:r>
            <a:endParaRPr lang="ja-JP" sz="1800" dirty="0"/>
          </a:p>
          <a:p>
            <a:pPr marL="228600" indent="-228600">
              <a:spcAft>
                <a:spcPts val="600"/>
              </a:spcAft>
              <a:buSzPct val="100000"/>
              <a:buChar char="•"/>
            </a:pPr>
            <a:r>
              <a:rPr lang="ja-JP" altLang="en-US" sz="1800">
                <a:solidFill>
                  <a:srgbClr val="262626"/>
                </a:solidFill>
                <a:latin typeface="Meiryo" pitchFamily="34" charset="0"/>
                <a:ea typeface="Meiryo" pitchFamily="34" charset="-122"/>
                <a:cs typeface="Meiryo" pitchFamily="34" charset="-120"/>
              </a:rPr>
              <a:t>ただし論文ごとの</a:t>
            </a:r>
            <a:r>
              <a:rPr lang="ja-JP" altLang="en-US">
                <a:solidFill>
                  <a:srgbClr val="262626"/>
                </a:solidFill>
                <a:latin typeface="Meiryo" pitchFamily="34" charset="0"/>
                <a:ea typeface="Meiryo" pitchFamily="34" charset="-122"/>
                <a:cs typeface="Meiryo" pitchFamily="34" charset="-120"/>
              </a:rPr>
              <a:t>差と比較して組織差はわずか</a:t>
            </a:r>
            <a:endParaRPr lang="ja-JP"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まとめ</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13</a:t>
            </a:r>
            <a:endParaRPr lang="ja-JP" sz="1200" dirty="0"/>
          </a:p>
        </p:txBody>
      </p:sp>
      <p:sp>
        <p:nvSpPr>
          <p:cNvPr id="4" name="Text 2"/>
          <p:cNvSpPr txBox="1"/>
          <p:nvPr/>
        </p:nvSpPr>
        <p:spPr>
          <a:xfrm>
            <a:off x="548640" y="1234440"/>
            <a:ext cx="11094415" cy="3291840"/>
          </a:xfrm>
          <a:prstGeom prst="rect">
            <a:avLst/>
          </a:prstGeom>
          <a:noFill/>
          <a:ln/>
        </p:spPr>
        <p:txBody>
          <a:bodyPr wrap="square" lIns="0" tIns="0" rIns="0" bIns="0" rtlCol="0" anchor="t"/>
          <a:lstStyle/>
          <a:p>
            <a:pPr marL="304800" indent="-304800">
              <a:spcAft>
                <a:spcPts val="1000"/>
              </a:spcAft>
              <a:buSzPct val="100000"/>
              <a:buFont typeface="+mj-lt"/>
              <a:buAutoNum type="arabicPeriod"/>
            </a:pPr>
            <a:r>
              <a:rPr lang="ja-JP" altLang="en-US" sz="2000" dirty="0">
                <a:solidFill>
                  <a:srgbClr val="262626"/>
                </a:solidFill>
                <a:latin typeface="Meiryo" pitchFamily="34" charset="0"/>
                <a:ea typeface="Meiryo" pitchFamily="34" charset="-122"/>
                <a:cs typeface="Meiryo" pitchFamily="34" charset="-120"/>
              </a:rPr>
              <a:t>SciSciNet 公開値の検証：自前の計算と並び順がよく一致し、以降の分析に使用</a:t>
            </a:r>
            <a:endParaRPr lang="ja-JP" sz="2000" dirty="0"/>
          </a:p>
          <a:p>
            <a:pPr marL="304800" indent="-304800">
              <a:spcAft>
                <a:spcPts val="1000"/>
              </a:spcAft>
              <a:buSzPct val="100000"/>
              <a:buFont typeface="+mj-lt"/>
              <a:buAutoNum type="arabicPeriod"/>
            </a:pPr>
            <a:r>
              <a:rPr lang="ja-JP" altLang="en-US" sz="2000" dirty="0">
                <a:solidFill>
                  <a:srgbClr val="262626"/>
                </a:solidFill>
                <a:latin typeface="Meiryo" pitchFamily="34" charset="0"/>
                <a:ea typeface="Meiryo" pitchFamily="34" charset="-122"/>
                <a:cs typeface="Meiryo" pitchFamily="34" charset="-120"/>
              </a:rPr>
              <a:t>一般論文との比較：条件を揃えると、新規性・破壊性・被引用とも中央付近</a:t>
            </a:r>
            <a:endParaRPr lang="ja-JP" sz="2000" dirty="0"/>
          </a:p>
          <a:p>
            <a:pPr marL="457200" lvl="1" indent="-228600">
              <a:spcAft>
                <a:spcPts val="1000"/>
              </a:spcAft>
              <a:buSzPct val="100000"/>
              <a:buChar char="•"/>
            </a:pPr>
            <a:r>
              <a:rPr lang="ja-JP" altLang="en-US" sz="1800" dirty="0">
                <a:solidFill>
                  <a:srgbClr val="262626"/>
                </a:solidFill>
                <a:latin typeface="Meiryo" pitchFamily="34" charset="0"/>
                <a:ea typeface="Meiryo" pitchFamily="34" charset="-122"/>
                <a:cs typeface="Meiryo" pitchFamily="34" charset="-120"/>
              </a:rPr>
              <a:t>被引用の高さと破壊性の低さは、チーム規模と参考文献数の大きさによる</a:t>
            </a:r>
            <a:endParaRPr lang="ja-JP" sz="2000" dirty="0"/>
          </a:p>
          <a:p>
            <a:pPr marL="457200" lvl="1" indent="-228600">
              <a:spcAft>
                <a:spcPts val="1000"/>
              </a:spcAft>
              <a:buSzPct val="100000"/>
              <a:buChar char="•"/>
            </a:pPr>
            <a:r>
              <a:rPr lang="ja-JP" altLang="en-US" sz="1800" dirty="0">
                <a:solidFill>
                  <a:srgbClr val="262626"/>
                </a:solidFill>
                <a:latin typeface="Meiryo" pitchFamily="34" charset="0"/>
                <a:ea typeface="Meiryo" pitchFamily="34" charset="-122"/>
                <a:cs typeface="Meiryo" pitchFamily="34" charset="-120"/>
              </a:rPr>
              <a:t>組織間では、豊田中研・未来創成が珍しい組み合わせ寄り、AISIN IMRA が定石寄り</a:t>
            </a:r>
            <a:endParaRPr lang="ja-JP" sz="2000" dirty="0"/>
          </a:p>
          <a:p>
            <a:pPr marL="304800" indent="-304800">
              <a:spcAft>
                <a:spcPts val="1000"/>
              </a:spcAft>
              <a:buSzPct val="100000"/>
              <a:buFont typeface="+mj-lt"/>
              <a:buAutoNum type="arabicPeriod"/>
            </a:pPr>
            <a:r>
              <a:rPr lang="ja-JP" altLang="en-US" sz="2000" dirty="0">
                <a:solidFill>
                  <a:srgbClr val="262626"/>
                </a:solidFill>
                <a:latin typeface="Meiryo" pitchFamily="34" charset="0"/>
                <a:ea typeface="Meiryo" pitchFamily="34" charset="-122"/>
                <a:cs typeface="Meiryo" pitchFamily="34" charset="-120"/>
              </a:rPr>
              <a:t>新規性の要因の検証：チーム規模・国際共同とも関係は見られず（件数が少ない）</a:t>
            </a:r>
            <a:br>
              <a:rPr dirty="0"/>
            </a:br>
            <a:r>
              <a:rPr lang="ja-JP" altLang="en-US" sz="2000" dirty="0">
                <a:solidFill>
                  <a:srgbClr val="262626"/>
                </a:solidFill>
                <a:latin typeface="Meiryo" pitchFamily="34" charset="0"/>
                <a:ea typeface="Meiryo" pitchFamily="34" charset="-122"/>
                <a:cs typeface="Meiryo" pitchFamily="34" charset="-120"/>
              </a:rPr>
              <a:t>組織の差は残るが、</a:t>
            </a:r>
            <a:r>
              <a:rPr lang="ja-JP" altLang="en-US" sz="2000">
                <a:solidFill>
                  <a:srgbClr val="262626"/>
                </a:solidFill>
                <a:latin typeface="Meiryo" pitchFamily="34" charset="0"/>
                <a:ea typeface="Meiryo" pitchFamily="34" charset="-122"/>
                <a:cs typeface="Meiryo" pitchFamily="34" charset="-120"/>
              </a:rPr>
              <a:t>説明できる因子としては小さい</a:t>
            </a:r>
            <a:endParaRPr lang="ja-JP" sz="2000" dirty="0"/>
          </a:p>
        </p:txBody>
      </p:sp>
      <p:sp>
        <p:nvSpPr>
          <p:cNvPr id="5" name="Text 3"/>
          <p:cNvSpPr txBox="1"/>
          <p:nvPr/>
        </p:nvSpPr>
        <p:spPr>
          <a:xfrm>
            <a:off x="548640" y="3844800"/>
            <a:ext cx="11094415" cy="1321560"/>
          </a:xfrm>
          <a:prstGeom prst="rect">
            <a:avLst/>
          </a:prstGeom>
          <a:noFill/>
          <a:ln/>
        </p:spPr>
        <p:txBody>
          <a:bodyPr wrap="square" lIns="0" tIns="0" rIns="0" bIns="0" rtlCol="0" anchor="ctr"/>
          <a:lstStyle/>
          <a:p>
            <a:pPr marL="0" indent="0">
              <a:buNone/>
            </a:pPr>
            <a:r>
              <a:rPr lang="ja-JP" altLang="en-US" sz="1800">
                <a:solidFill>
                  <a:srgbClr val="262626"/>
                </a:solidFill>
                <a:latin typeface="Meiryo" pitchFamily="34" charset="0"/>
                <a:ea typeface="Meiryo" pitchFamily="34" charset="-122"/>
                <a:cs typeface="Meiryo" pitchFamily="34" charset="-120"/>
              </a:rPr>
              <a:t>今後：</a:t>
            </a:r>
            <a:endParaRPr lang="en-US" altLang="ja-JP" sz="1800" dirty="0">
              <a:solidFill>
                <a:srgbClr val="262626"/>
              </a:solidFill>
              <a:latin typeface="Meiryo" pitchFamily="34" charset="0"/>
              <a:ea typeface="Meiryo" pitchFamily="34" charset="-122"/>
              <a:cs typeface="Meiryo" pitchFamily="34" charset="-120"/>
            </a:endParaRPr>
          </a:p>
          <a:p>
            <a:pPr marL="285750" indent="-285750">
              <a:buFont typeface="Arial" panose="020B0604020202020204" pitchFamily="34" charset="0"/>
              <a:buChar char="•"/>
            </a:pPr>
            <a:r>
              <a:rPr lang="ja-JP" altLang="en-US">
                <a:solidFill>
                  <a:srgbClr val="262626"/>
                </a:solidFill>
                <a:latin typeface="Meiryo" pitchFamily="34" charset="0"/>
                <a:ea typeface="Meiryo" pitchFamily="34" charset="-122"/>
                <a:cs typeface="Meiryo" pitchFamily="34" charset="-120"/>
              </a:rPr>
              <a:t>データを増加させ検証の信頼性を高める</a:t>
            </a:r>
            <a:endParaRPr lang="en-US" altLang="ja-JP" dirty="0">
              <a:solidFill>
                <a:srgbClr val="262626"/>
              </a:solidFill>
              <a:latin typeface="Meiryo" pitchFamily="34" charset="0"/>
              <a:ea typeface="Meiryo" pitchFamily="34" charset="-122"/>
              <a:cs typeface="Meiryo" pitchFamily="34" charset="-120"/>
            </a:endParaRPr>
          </a:p>
          <a:p>
            <a:pPr marL="285750" indent="-285750">
              <a:buFont typeface="Arial" panose="020B0604020202020204" pitchFamily="34" charset="0"/>
              <a:buChar char="•"/>
            </a:pPr>
            <a:r>
              <a:rPr lang="ja-JP" altLang="en-US" sz="1800">
                <a:solidFill>
                  <a:srgbClr val="262626"/>
                </a:solidFill>
                <a:latin typeface="Meiryo" pitchFamily="34" charset="0"/>
                <a:ea typeface="Meiryo" pitchFamily="34" charset="-122"/>
                <a:cs typeface="Meiryo" pitchFamily="34" charset="-120"/>
              </a:rPr>
              <a:t>文献調査を行い</a:t>
            </a:r>
            <a:r>
              <a:rPr lang="ja-JP" altLang="en-US">
                <a:solidFill>
                  <a:srgbClr val="262626"/>
                </a:solidFill>
                <a:latin typeface="Meiryo" pitchFamily="34" charset="0"/>
                <a:ea typeface="Meiryo" pitchFamily="34" charset="-122"/>
                <a:cs typeface="Meiryo" pitchFamily="34" charset="-120"/>
              </a:rPr>
              <a:t>、他の仮説を試す</a:t>
            </a:r>
            <a:r>
              <a:rPr lang="en-US" altLang="ja-JP" dirty="0">
                <a:solidFill>
                  <a:srgbClr val="262626"/>
                </a:solidFill>
                <a:latin typeface="Meiryo" pitchFamily="34" charset="0"/>
                <a:ea typeface="Meiryo" pitchFamily="34" charset="-122"/>
                <a:cs typeface="Meiryo" pitchFamily="34" charset="-120"/>
              </a:rPr>
              <a:t> and/or </a:t>
            </a:r>
            <a:r>
              <a:rPr lang="ja-JP" altLang="en-US" sz="1800">
                <a:solidFill>
                  <a:srgbClr val="262626"/>
                </a:solidFill>
                <a:latin typeface="Meiryo" pitchFamily="34" charset="0"/>
                <a:ea typeface="Meiryo" pitchFamily="34" charset="-122"/>
                <a:cs typeface="Meiryo" pitchFamily="34" charset="-120"/>
              </a:rPr>
              <a:t>解析方法を増やす</a:t>
            </a:r>
            <a:endParaRPr lang="en-US" altLang="ja-JP" sz="1800" dirty="0">
              <a:solidFill>
                <a:srgbClr val="262626"/>
              </a:solidFill>
              <a:latin typeface="Meiryo" pitchFamily="34" charset="0"/>
              <a:ea typeface="Meiryo" pitchFamily="34" charset="-122"/>
              <a:cs typeface="Meiryo" pitchFamily="34" charset="-120"/>
            </a:endParaRPr>
          </a:p>
          <a:p>
            <a:pPr marL="285750" indent="-285750">
              <a:buFont typeface="Arial" panose="020B0604020202020204" pitchFamily="34" charset="0"/>
              <a:buChar char="•"/>
            </a:pPr>
            <a:endParaRPr lang="en-US" altLang="ja-JP" sz="1800" dirty="0">
              <a:solidFill>
                <a:srgbClr val="262626"/>
              </a:solidFill>
              <a:latin typeface="Meiryo" pitchFamily="34" charset="0"/>
              <a:ea typeface="Meiryo" pitchFamily="34" charset="-122"/>
              <a:cs typeface="Meiryo" pitchFamily="34" charset="-120"/>
            </a:endParaRPr>
          </a:p>
          <a:p>
            <a:pPr marL="0" indent="0">
              <a:buNone/>
            </a:pPr>
            <a:endParaRPr lang="ja-JP"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補足：チーム規模別の破壊性</a:t>
            </a:r>
            <a:endParaRPr lang="ja-JP" sz="26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ja-JP" altLang="en-US" sz="1600" dirty="0">
                <a:solidFill>
                  <a:srgbClr val="595959"/>
                </a:solidFill>
                <a:latin typeface="Meiryo" pitchFamily="34" charset="0"/>
                <a:ea typeface="Meiryo" pitchFamily="34" charset="-122"/>
                <a:cs typeface="Meiryo" pitchFamily="34" charset="-120"/>
              </a:rPr>
              <a:t>破壊性の順位の中央値（同じ分野・同じ年の一般論文との比較、50が中央）</a:t>
            </a:r>
            <a:endParaRPr lang="ja-JP" sz="1600" dirty="0"/>
          </a:p>
        </p:txBody>
      </p:sp>
      <p:sp>
        <p:nvSpPr>
          <p:cNvPr id="4" name="Text 2"/>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14</a:t>
            </a:r>
            <a:endParaRPr lang="ja-JP"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2103120"/>
        </p:xfrm>
        <a:graphic>
          <a:graphicData uri="http://schemas.openxmlformats.org/drawingml/2006/table">
            <a:tbl>
              <a:tblPr/>
              <a:tblGrid>
                <a:gridCol w="21945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901952">
                  <a:extLst>
                    <a:ext uri="{9D8B030D-6E8A-4147-A177-3AD203B41FA5}">
                      <a16:colId xmlns:a16="http://schemas.microsoft.com/office/drawing/2014/main" val="20002"/>
                    </a:ext>
                  </a:extLst>
                </a:gridCol>
                <a:gridCol w="1901952">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gridCol w="1913839">
                  <a:extLst>
                    <a:ext uri="{9D8B030D-6E8A-4147-A177-3AD203B41FA5}">
                      <a16:colId xmlns:a16="http://schemas.microsoft.com/office/drawing/2014/main" val="20005"/>
                    </a:ext>
                  </a:extLst>
                </a:gridCol>
              </a:tblGrid>
              <a:tr h="420624">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チーム規模</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件数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分野・年のみ</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＋参考文献数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＋チーム規模</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＋両方</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1〜2人</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60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44.4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60.3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46.5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58.4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3〜4人</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157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40.2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51.1</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48.9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52.7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5〜6人</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132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32.8</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43.0</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45.7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50.2</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7人以上</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144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31.7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36.7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44.6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47.5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548640" y="3977640"/>
            <a:ext cx="11094415" cy="2194560"/>
          </a:xfrm>
          <a:prstGeom prst="rect">
            <a:avLst/>
          </a:prstGeom>
          <a:noFill/>
          <a:ln/>
        </p:spPr>
        <p:txBody>
          <a:bodyPr wrap="square" lIns="0" tIns="0" rIns="0" bIns="0" rtlCol="0" anchor="t"/>
          <a:lstStyle/>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分野と年のみ揃えると、チームが大きいほど破壊性が低い（Wu et al. 2019 と同じ傾向）</a:t>
            </a:r>
            <a:endParaRPr lang="ja-JP" sz="1800" dirty="0"/>
          </a:p>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チーム規模を揃えると、ほぼ平らになる</a:t>
            </a:r>
            <a:endParaRPr lang="ja-JP" sz="1800" dirty="0"/>
          </a:p>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参考文献数だけを揃えても、チーム規模による傾きは残る</a:t>
            </a:r>
            <a:endParaRPr lang="ja-JP"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今後の予定</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11</a:t>
            </a:r>
            <a:endParaRPr lang="ja-JP" sz="1200" dirty="0"/>
          </a:p>
        </p:txBody>
      </p:sp>
      <p:sp>
        <p:nvSpPr>
          <p:cNvPr id="4" name="Text 2"/>
          <p:cNvSpPr txBox="1"/>
          <p:nvPr/>
        </p:nvSpPr>
        <p:spPr>
          <a:xfrm>
            <a:off x="548640" y="1234440"/>
            <a:ext cx="11094415" cy="4937760"/>
          </a:xfrm>
          <a:prstGeom prst="rect">
            <a:avLst/>
          </a:prstGeom>
          <a:noFill/>
          <a:ln/>
        </p:spPr>
        <p:txBody>
          <a:bodyPr wrap="square" lIns="0" tIns="0" rIns="0" bIns="0" rtlCol="0" anchor="t"/>
          <a:lstStyle/>
          <a:p>
            <a:pPr marL="228600" indent="-228600">
              <a:spcAft>
                <a:spcPts val="1000"/>
              </a:spcAft>
              <a:buSzPct val="100000"/>
              <a:buChar char="•"/>
            </a:pPr>
            <a:r>
              <a:rPr lang="ja-JP" altLang="en-US" sz="2000" dirty="0">
                <a:solidFill>
                  <a:srgbClr val="262626"/>
                </a:solidFill>
                <a:latin typeface="Meiryo" pitchFamily="34" charset="0"/>
                <a:ea typeface="Meiryo" pitchFamily="34" charset="-122"/>
                <a:cs typeface="Meiryo" pitchFamily="34" charset="-120"/>
              </a:rPr>
              <a:t>研究者ごとの論文の再収集について、作業量を見積もる（次回報告まで）</a:t>
            </a:r>
            <a:endParaRPr lang="ja-JP" sz="2000" dirty="0"/>
          </a:p>
          <a:p>
            <a:pPr marL="457200" lvl="1" indent="-228600">
              <a:spcAft>
                <a:spcPts val="1000"/>
              </a:spcAft>
              <a:buSzPct val="100000"/>
              <a:buChar char="•"/>
            </a:pPr>
            <a:r>
              <a:rPr lang="ja-JP" altLang="en-US" sz="1800" dirty="0">
                <a:solidFill>
                  <a:srgbClr val="262626"/>
                </a:solidFill>
                <a:latin typeface="Meiryo" pitchFamily="34" charset="0"/>
                <a:ea typeface="Meiryo" pitchFamily="34" charset="-122"/>
                <a:cs typeface="Meiryo" pitchFamily="34" charset="-120"/>
              </a:rPr>
              <a:t>hot streak（研究者の業績が一時期に集中する現象）の分析には、</a:t>
            </a:r>
            <a:br/>
            <a:r>
              <a:rPr lang="ja-JP" altLang="en-US" sz="1800" dirty="0">
                <a:solidFill>
                  <a:srgbClr val="262626"/>
                </a:solidFill>
                <a:latin typeface="Meiryo" pitchFamily="34" charset="0"/>
                <a:ea typeface="Meiryo" pitchFamily="34" charset="-122"/>
                <a:cs typeface="Meiryo" pitchFamily="34" charset="-120"/>
              </a:rPr>
              <a:t>トヨタ以外も含めたキャリア全体の論文が必要</a:t>
            </a:r>
            <a:endParaRPr lang="ja-JP" sz="2000" dirty="0"/>
          </a:p>
          <a:p>
            <a:pPr marL="457200" lvl="1" indent="-228600">
              <a:spcAft>
                <a:spcPts val="1000"/>
              </a:spcAft>
              <a:buSzPct val="100000"/>
              <a:buChar char="•"/>
            </a:pPr>
            <a:r>
              <a:rPr lang="ja-JP" altLang="en-US" sz="1800" dirty="0">
                <a:solidFill>
                  <a:srgbClr val="262626"/>
                </a:solidFill>
                <a:latin typeface="Meiryo" pitchFamily="34" charset="0"/>
                <a:ea typeface="Meiryo" pitchFamily="34" charset="-122"/>
                <a:cs typeface="Meiryo" pitchFamily="34" charset="-120"/>
              </a:rPr>
              <a:t>サイト上で20本以上の論文がある研究者は18名のみ</a:t>
            </a:r>
            <a:endParaRPr lang="ja-JP" sz="2000" dirty="0"/>
          </a:p>
          <a:p>
            <a:pPr marL="228600" indent="-228600">
              <a:spcAft>
                <a:spcPts val="1000"/>
              </a:spcAft>
              <a:buSzPct val="100000"/>
              <a:buChar char="•"/>
            </a:pPr>
            <a:r>
              <a:rPr lang="ja-JP" altLang="en-US" sz="2000" dirty="0">
                <a:solidFill>
                  <a:srgbClr val="262626"/>
                </a:solidFill>
                <a:latin typeface="Meiryo" pitchFamily="34" charset="0"/>
                <a:ea typeface="Meiryo" pitchFamily="34" charset="-122"/>
                <a:cs typeface="Meiryo" pitchFamily="34" charset="-120"/>
              </a:rPr>
              <a:t>hot streak の分析（見積もりの確認後に着手）</a:t>
            </a:r>
            <a:endParaRPr lang="ja-JP" sz="2000" dirty="0"/>
          </a:p>
          <a:p>
            <a:pPr marL="228600" indent="-228600">
              <a:spcAft>
                <a:spcPts val="1000"/>
              </a:spcAft>
              <a:buSzPct val="100000"/>
              <a:buChar char="•"/>
            </a:pPr>
            <a:r>
              <a:rPr lang="ja-JP" altLang="en-US" sz="2000" dirty="0">
                <a:solidFill>
                  <a:srgbClr val="262626"/>
                </a:solidFill>
                <a:latin typeface="Meiryo" pitchFamily="34" charset="0"/>
                <a:ea typeface="Meiryo" pitchFamily="34" charset="-122"/>
                <a:cs typeface="Meiryo" pitchFamily="34" charset="-120"/>
              </a:rPr>
              <a:t>AI の研究利用に関する報告書の作成</a:t>
            </a:r>
            <a:endParaRPr lang="ja-JP"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その他：SciSciGPT の調査</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10</a:t>
            </a:r>
            <a:endParaRPr lang="ja-JP" sz="1200" dirty="0"/>
          </a:p>
        </p:txBody>
      </p:sp>
      <p:sp>
        <p:nvSpPr>
          <p:cNvPr id="4" name="Text 2"/>
          <p:cNvSpPr txBox="1"/>
          <p:nvPr/>
        </p:nvSpPr>
        <p:spPr>
          <a:xfrm>
            <a:off x="548640" y="1188720"/>
            <a:ext cx="11094415" cy="2103120"/>
          </a:xfrm>
          <a:prstGeom prst="rect">
            <a:avLst/>
          </a:prstGeom>
          <a:noFill/>
          <a:ln/>
        </p:spPr>
        <p:txBody>
          <a:bodyPr wrap="square" lIns="0" tIns="0" rIns="0" bIns="0" rtlCol="0" anchor="t"/>
          <a:lstStyle/>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SciSciGPT（Shao et al. 2025, Nature Computational Science）</a:t>
            </a:r>
            <a:br/>
            <a:r>
              <a:rPr lang="ja-JP" altLang="en-US" sz="1800" dirty="0">
                <a:solidFill>
                  <a:srgbClr val="262626"/>
                </a:solidFill>
                <a:latin typeface="Meiryo" pitchFamily="34" charset="0"/>
                <a:ea typeface="Meiryo" pitchFamily="34" charset="-122"/>
                <a:cs typeface="Meiryo" pitchFamily="34" charset="-120"/>
              </a:rPr>
              <a:t>SciSciNet のデータを、言葉での指示にもとづいて AI が分析するシステム</a:t>
            </a:r>
            <a:endParaRPr lang="ja-JP" sz="1800" dirty="0"/>
          </a:p>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今回の分析には使用していない（SciSciNet のデータを直接集計）</a:t>
            </a:r>
            <a:endParaRPr lang="ja-JP" sz="1800" dirty="0"/>
          </a:p>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AI の研究利用に関する報告の準備として、同種のシステムと、AI の研究利用への批判を調査中</a:t>
            </a:r>
            <a:endParaRPr lang="ja-JP"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94415" cy="1682496"/>
        </p:xfrm>
        <a:graphic>
          <a:graphicData uri="http://schemas.openxmlformats.org/drawingml/2006/table">
            <a:tbl>
              <a:tblPr/>
              <a:tblGrid>
                <a:gridCol w="29260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1401775">
                  <a:extLst>
                    <a:ext uri="{9D8B030D-6E8A-4147-A177-3AD203B41FA5}">
                      <a16:colId xmlns:a16="http://schemas.microsoft.com/office/drawing/2014/main" val="20004"/>
                    </a:ext>
                  </a:extLst>
                </a:gridCol>
              </a:tblGrid>
              <a:tr h="420624">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システム</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内容</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年</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掲載</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ctr">
                        <a:buNone/>
                      </a:pPr>
                      <a:r>
                        <a:rPr lang="ja-JP" altLang="en-US" sz="1800" b="1" dirty="0">
                          <a:solidFill>
                            <a:srgbClr val="262626"/>
                          </a:solidFill>
                          <a:latin typeface="Meiryo" pitchFamily="34" charset="0"/>
                          <a:ea typeface="Meiryo" pitchFamily="34" charset="-122"/>
                          <a:cs typeface="Meiryo" pitchFamily="34" charset="-120"/>
                        </a:rPr>
                        <a:t>被引用数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Coscientist</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化学実験の自動化</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2023</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Nature</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981</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The AI Scientist</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論文作成の自動化</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2024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arXiv</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114</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SciSciGPT</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科学計量の分析</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2025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Nat. Comput. Sci.</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ctr">
                        <a:buNone/>
                      </a:pPr>
                      <a:r>
                        <a:rPr lang="ja-JP" altLang="en-US" sz="1800" dirty="0">
                          <a:solidFill>
                            <a:srgbClr val="262626"/>
                          </a:solidFill>
                          <a:latin typeface="Meiryo" pitchFamily="34" charset="0"/>
                          <a:ea typeface="Meiryo" pitchFamily="34" charset="-122"/>
                          <a:cs typeface="Meiryo" pitchFamily="34" charset="-120"/>
                        </a:rPr>
                        <a:t>6</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txBox="1"/>
          <p:nvPr/>
        </p:nvSpPr>
        <p:spPr>
          <a:xfrm>
            <a:off x="548640" y="5303520"/>
            <a:ext cx="11094415" cy="320040"/>
          </a:xfrm>
          <a:prstGeom prst="rect">
            <a:avLst/>
          </a:prstGeom>
          <a:noFill/>
          <a:ln/>
        </p:spPr>
        <p:txBody>
          <a:bodyPr wrap="square" lIns="0" tIns="0" rIns="0" bIns="0" rtlCol="0" anchor="ctr"/>
          <a:lstStyle/>
          <a:p>
            <a:pPr marL="0" indent="0">
              <a:buNone/>
            </a:pPr>
            <a:r>
              <a:rPr lang="ja-JP" altLang="en-US" sz="1400" dirty="0">
                <a:solidFill>
                  <a:srgbClr val="595959"/>
                </a:solidFill>
                <a:latin typeface="Meiryo" pitchFamily="34" charset="0"/>
                <a:ea typeface="Meiryo" pitchFamily="34" charset="-122"/>
                <a:cs typeface="Meiryo" pitchFamily="34" charset="-120"/>
              </a:rPr>
              <a:t>被引用数は OpenAlex による（2026年6月時点）</a:t>
            </a:r>
            <a:endParaRPr lang="ja-JP"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確認事項</a:t>
            </a:r>
            <a:endParaRPr lang="ja-JP" sz="2600" dirty="0"/>
          </a:p>
        </p:txBody>
      </p:sp>
      <p:sp>
        <p:nvSpPr>
          <p:cNvPr id="3" name="Text 1"/>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12</a:t>
            </a:r>
            <a:endParaRPr lang="ja-JP" sz="1200" dirty="0"/>
          </a:p>
        </p:txBody>
      </p:sp>
      <p:sp>
        <p:nvSpPr>
          <p:cNvPr id="4" name="Text 2"/>
          <p:cNvSpPr txBox="1"/>
          <p:nvPr/>
        </p:nvSpPr>
        <p:spPr>
          <a:xfrm>
            <a:off x="548640" y="1234440"/>
            <a:ext cx="11094415" cy="4937760"/>
          </a:xfrm>
          <a:prstGeom prst="rect">
            <a:avLst/>
          </a:prstGeom>
          <a:noFill/>
          <a:ln/>
        </p:spPr>
        <p:txBody>
          <a:bodyPr wrap="square" lIns="0" tIns="0" rIns="0" bIns="0" rtlCol="0" anchor="t"/>
          <a:lstStyle/>
          <a:p>
            <a:pPr marL="304800" indent="-304800">
              <a:spcAft>
                <a:spcPts val="1000"/>
              </a:spcAft>
              <a:buSzPct val="100000"/>
              <a:buFont typeface="+mj-lt"/>
              <a:buAutoNum type="arabicPeriod"/>
            </a:pPr>
            <a:r>
              <a:rPr lang="ja-JP" altLang="en-US" sz="2000" dirty="0">
                <a:solidFill>
                  <a:srgbClr val="262626"/>
                </a:solidFill>
                <a:latin typeface="Meiryo" pitchFamily="34" charset="0"/>
                <a:ea typeface="Meiryo" pitchFamily="34" charset="-122"/>
                <a:cs typeface="Meiryo" pitchFamily="34" charset="-120"/>
              </a:rPr>
              <a:t>hot streak を、研究者ごとの論文の再収集を前提に進めてよいか</a:t>
            </a:r>
            <a:endParaRPr lang="ja-JP" sz="2000" dirty="0"/>
          </a:p>
          <a:p>
            <a:pPr marL="304800" indent="-304800">
              <a:spcAft>
                <a:spcPts val="1000"/>
              </a:spcAft>
              <a:buSzPct val="100000"/>
              <a:buFont typeface="+mj-lt"/>
              <a:buAutoNum type="arabicPeriod"/>
            </a:pPr>
            <a:r>
              <a:rPr lang="ja-JP" altLang="en-US" sz="2000" dirty="0">
                <a:solidFill>
                  <a:srgbClr val="262626"/>
                </a:solidFill>
                <a:latin typeface="Meiryo" pitchFamily="34" charset="0"/>
                <a:ea typeface="Meiryo" pitchFamily="34" charset="-122"/>
                <a:cs typeface="Meiryo" pitchFamily="34" charset="-120"/>
              </a:rPr>
              <a:t>対象期間：2000年以降でよいか（1990年代以前の62件はすべて AISIN IMRA 米国法人）</a:t>
            </a:r>
            <a:endParaRPr lang="ja-JP" sz="2000" dirty="0"/>
          </a:p>
          <a:p>
            <a:pPr marL="304800" indent="-304800">
              <a:spcAft>
                <a:spcPts val="1000"/>
              </a:spcAft>
              <a:buSzPct val="100000"/>
              <a:buFont typeface="+mj-lt"/>
              <a:buAutoNum type="arabicPeriod"/>
            </a:pPr>
            <a:r>
              <a:rPr lang="ja-JP" altLang="en-US" sz="2000" dirty="0">
                <a:solidFill>
                  <a:srgbClr val="262626"/>
                </a:solidFill>
                <a:latin typeface="Meiryo" pitchFamily="34" charset="0"/>
                <a:ea typeface="Meiryo" pitchFamily="34" charset="-122"/>
                <a:cs typeface="Meiryo" pitchFamily="34" charset="-120"/>
              </a:rPr>
              <a:t>対象組織：現在の4組織でよいか</a:t>
            </a:r>
            <a:endParaRPr lang="ja-JP" sz="2000" dirty="0"/>
          </a:p>
          <a:p>
            <a:pPr marL="457200" lvl="1" indent="-228600">
              <a:spcAft>
                <a:spcPts val="1000"/>
              </a:spcAft>
              <a:buSzPct val="100000"/>
              <a:buChar char="•"/>
            </a:pPr>
            <a:r>
              <a:rPr lang="ja-JP" altLang="en-US" sz="1800" dirty="0">
                <a:solidFill>
                  <a:srgbClr val="262626"/>
                </a:solidFill>
                <a:latin typeface="Meiryo" pitchFamily="34" charset="0"/>
                <a:ea typeface="Meiryo" pitchFamily="34" charset="-122"/>
                <a:cs typeface="Meiryo" pitchFamily="34" charset="-120"/>
              </a:rPr>
              <a:t>デンソー、Toyota Research Institute などを加えるか</a:t>
            </a:r>
            <a:endParaRPr lang="ja-JP" sz="2000" dirty="0"/>
          </a:p>
          <a:p>
            <a:pPr marL="457200" lvl="1" indent="-228600">
              <a:spcAft>
                <a:spcPts val="1000"/>
              </a:spcAft>
              <a:buSzPct val="100000"/>
              <a:buChar char="•"/>
            </a:pPr>
            <a:r>
              <a:rPr lang="ja-JP" altLang="en-US" sz="1800" dirty="0">
                <a:solidFill>
                  <a:srgbClr val="262626"/>
                </a:solidFill>
                <a:latin typeface="Meiryo" pitchFamily="34" charset="0"/>
                <a:ea typeface="Meiryo" pitchFamily="34" charset="-122"/>
                <a:cs typeface="Meiryo" pitchFamily="34" charset="-120"/>
              </a:rPr>
              <a:t>豊田工業大学は教育研究機関のため、除外を提案</a:t>
            </a:r>
            <a:endParaRPr lang="ja-JP" sz="2000" dirty="0"/>
          </a:p>
          <a:p>
            <a:pPr marL="304800" indent="-304800">
              <a:spcAft>
                <a:spcPts val="1000"/>
              </a:spcAft>
              <a:buSzPct val="100000"/>
              <a:buFont typeface="+mj-lt"/>
              <a:buAutoNum type="arabicPeriod"/>
            </a:pPr>
            <a:r>
              <a:rPr lang="ja-JP" altLang="en-US" sz="2000" dirty="0">
                <a:solidFill>
                  <a:srgbClr val="262626"/>
                </a:solidFill>
                <a:latin typeface="Meiryo" pitchFamily="34" charset="0"/>
                <a:ea typeface="Meiryo" pitchFamily="34" charset="-122"/>
                <a:cs typeface="Meiryo" pitchFamily="34" charset="-120"/>
              </a:rPr>
              <a:t>Sota Hayashi さんとの役割分担</a:t>
            </a:r>
            <a:endParaRPr lang="ja-JP"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補足：新規性の要因の検証の方法（使った値）</a:t>
            </a:r>
            <a:endParaRPr lang="ja-JP" sz="26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ja-JP" altLang="en-US" sz="1600" dirty="0">
                <a:solidFill>
                  <a:srgbClr val="595959"/>
                </a:solidFill>
                <a:latin typeface="Meiryo" pitchFamily="34" charset="0"/>
                <a:ea typeface="Meiryo" pitchFamily="34" charset="-122"/>
                <a:cs typeface="Meiryo" pitchFamily="34" charset="-120"/>
              </a:rPr>
              <a:t>対象：2000年以降のトヨタ論文のうち、下の値がすべてそろった533件（どの検定も同じ533件）</a:t>
            </a:r>
            <a:endParaRPr lang="ja-JP" sz="1600" dirty="0"/>
          </a:p>
        </p:txBody>
      </p:sp>
      <p:sp>
        <p:nvSpPr>
          <p:cNvPr id="4" name="Text 2"/>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15</a:t>
            </a:r>
            <a:endParaRPr lang="ja-JP"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489704"/>
        </p:xfrm>
        <a:graphic>
          <a:graphicData uri="http://schemas.openxmlformats.org/drawingml/2006/table">
            <a:tbl>
              <a:tblPr/>
              <a:tblGrid>
                <a:gridCol w="2194560"/>
                <a:gridCol w="7114032"/>
                <a:gridCol w="1783080"/>
              </a:tblGrid>
              <a:tr h="475488">
                <a:extLst>
                  <a:ext uri="{0D108BD9-81ED-4DB2-BD59-A6C34878D82A}">
                    <a16:rowId xmlns:a16="http://schemas.microsoft.com/office/drawing/2014/main" val="10000"/>
                  </a:ext>
                </a:extLst>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変数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定義</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出典</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r>
              <a:tr h="1161288">
                <a:extLst>
                  <a:ext uri="{0D108BD9-81ED-4DB2-BD59-A6C34878D82A}">
                    <a16:rowId xmlns:a16="http://schemas.microsoft.com/office/drawing/2014/main" val="10001"/>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非慣習性の順位</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（調べる値）</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zスコアの下位10パーセンタイル値の、同じ分野（OpenAlex の26分野）・同じ年の一般論文（無作為に最大3,000件）の中での順位（0〜100）を100から引いた値。高いほど珍しい組み合わせ</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SciSciNet</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extLst>
                  <a:ext uri="{0D108BD9-81ED-4DB2-BD59-A6C34878D82A}">
                    <a16:rowId xmlns:a16="http://schemas.microsoft.com/office/drawing/2014/main" val="10002"/>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著者数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論文の著者の人数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SciSciNet</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extLst>
                  <a:ext uri="{0D108BD9-81ED-4DB2-BD59-A6C34878D82A}">
                    <a16:rowId xmlns:a16="http://schemas.microsoft.com/office/drawing/2014/main" val="10002"/>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参考文献数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参考文献の本数</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OpenAlex</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extLst>
                  <a:ext uri="{0D108BD9-81ED-4DB2-BD59-A6C34878D82A}">
                    <a16:rowId xmlns:a16="http://schemas.microsoft.com/office/drawing/2014/main" val="10002"/>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分野の偏り</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参考文献の分野ごとの割合の2乗和（1に近いほど1分野に集中）</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OpenAlex</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extLst>
                  <a:ext uri="{0D108BD9-81ED-4DB2-BD59-A6C34878D82A}">
                    <a16:rowId xmlns:a16="http://schemas.microsoft.com/office/drawing/2014/main" val="10002"/>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国際共同</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著者の所属機関の国が2か国以上</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OpenAlex</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extLst>
                  <a:ext uri="{0D108BD9-81ED-4DB2-BD59-A6C34878D82A}">
                    <a16:rowId xmlns:a16="http://schemas.microsoft.com/office/drawing/2014/main" val="10002"/>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産学連携</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著者の所属機関に教育機関（大学など）と企業の両方を含む</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OpenAlex</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75488">
                <a:extLst>
                  <a:ext uri="{0D108BD9-81ED-4DB2-BD59-A6C34878D82A}">
                    <a16:rowId xmlns:a16="http://schemas.microsoft.com/office/drawing/2014/main" val="10004"/>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組織をまたぐ共同</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著者の所属にトヨタ系4組織のうち2組織以上を含む</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OpenAlex 他</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ctr"/>
          <a:lstStyle/>
          <a:p>
            <a:pPr marL="0" indent="0">
              <a:buNone/>
            </a:pPr>
            <a:r>
              <a:rPr lang="ja-JP" altLang="en-US" sz="2600" b="1" dirty="0">
                <a:solidFill>
                  <a:srgbClr val="1F3864"/>
                </a:solidFill>
                <a:latin typeface="Meiryo" pitchFamily="34" charset="0"/>
                <a:ea typeface="Meiryo" pitchFamily="34" charset="-122"/>
                <a:cs typeface="Meiryo" pitchFamily="34" charset="-120"/>
              </a:rPr>
              <a:t>補足：新規性の要因の検証の方法（検定）</a:t>
            </a:r>
            <a:endParaRPr lang="ja-JP" sz="26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marL="0" indent="0">
              <a:buNone/>
            </a:pPr>
            <a:r>
              <a:rPr lang="ja-JP" altLang="en-US" sz="1600" dirty="0">
                <a:solidFill>
                  <a:srgbClr val="595959"/>
                </a:solidFill>
                <a:latin typeface="Meiryo" pitchFamily="34" charset="0"/>
                <a:ea typeface="Meiryo" pitchFamily="34" charset="-122"/>
                <a:cs typeface="Meiryo" pitchFamily="34" charset="-120"/>
              </a:rPr>
              <a:t>計算：Python（statsmodels 0.15、scipy 1.18）、src/analyze_novelty_v2.py　log は自然対数</a:t>
            </a:r>
            <a:endParaRPr lang="ja-JP" sz="1600" dirty="0"/>
          </a:p>
        </p:txBody>
      </p:sp>
      <p:sp>
        <p:nvSpPr>
          <p:cNvPr id="4" name="Text 2"/>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ja-JP" altLang="en-US" sz="1200" dirty="0">
                <a:solidFill>
                  <a:srgbClr val="7F7F7F"/>
                </a:solidFill>
                <a:latin typeface="Meiryo" pitchFamily="34" charset="0"/>
                <a:ea typeface="Meiryo" pitchFamily="34" charset="-122"/>
                <a:cs typeface="Meiryo" pitchFamily="34" charset="-120"/>
              </a:rPr>
              <a:t>16</a:t>
            </a:r>
            <a:endParaRPr lang="ja-JP"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767328"/>
        </p:xfrm>
        <a:graphic>
          <a:graphicData uri="http://schemas.openxmlformats.org/drawingml/2006/table">
            <a:tbl>
              <a:tblPr/>
              <a:tblGrid>
                <a:gridCol w="2240280"/>
                <a:gridCol w="2606040"/>
                <a:gridCol w="4690872"/>
                <a:gridCol w="1554480"/>
              </a:tblGrid>
              <a:tr h="475488">
                <a:extLst>
                  <a:ext uri="{0D108BD9-81ED-4DB2-BD59-A6C34878D82A}">
                    <a16:rowId xmlns:a16="http://schemas.microsoft.com/office/drawing/2014/main" val="10000"/>
                  </a:ext>
                </a:extLst>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要因</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検定</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式・比べ方</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c>
                  <a:txBody>
                    <a:bodyPr/>
                    <a:lstStyle/>
                    <a:p>
                      <a:pPr marL="0" indent="0" algn="l">
                        <a:buNone/>
                      </a:pPr>
                      <a:r>
                        <a:rPr lang="ja-JP" altLang="en-US" sz="1800" b="1" dirty="0">
                          <a:solidFill>
                            <a:srgbClr val="262626"/>
                          </a:solidFill>
                          <a:latin typeface="Meiryo" pitchFamily="34" charset="0"/>
                          <a:ea typeface="Meiryo" pitchFamily="34" charset="-122"/>
                          <a:cs typeface="Meiryo" pitchFamily="34" charset="-120"/>
                        </a:rPr>
                        <a:t>結果</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905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tcPr>
                </a:tc>
              </a:tr>
              <a:tr h="822960">
                <a:extLst>
                  <a:ext uri="{0D108BD9-81ED-4DB2-BD59-A6C34878D82A}">
                    <a16:rowId xmlns:a16="http://schemas.microsoft.com/office/drawing/2014/main" val="10001"/>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チーム規模</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最小二乗法</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係数 a の t 検定</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非慣習性 ＝ 定数 ＋ a×log(著者数) ＋ b×log(参考文献数＋1) ＋ c×分野の偏り</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a = −1.5</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p = 0.39</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12700" cap="flat" cmpd="sng" algn="ctr">
                      <a:solidFill>
                        <a:srgbClr val="40404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extLst>
                  <a:ext uri="{0D108BD9-81ED-4DB2-BD59-A6C34878D82A}">
                    <a16:rowId xmlns:a16="http://schemas.microsoft.com/office/drawing/2014/main" val="10002"/>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国際共同</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最小二乗法</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係数の t 検定</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上の式に国際共同（1 か 0）を追加</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係数 −0.76</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p = 0.81</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extLst>
                  <a:ext uri="{0D108BD9-81ED-4DB2-BD59-A6C34878D82A}">
                    <a16:rowId xmlns:a16="http://schemas.microsoft.com/office/drawing/2014/main" val="10002"/>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産学連携</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組織をまたぐ共同</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マン・ホイットニーの</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U 検定（両側）</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あり（224件、53件）となしで順位の分布を比較。統制なし</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p = 0.06</a:t>
                      </a:r>
                      <a:endParaRPr lang="ja-JP" sz="1800" dirty="0">
                        <a:latin typeface="Meiryo" charset="0"/>
                        <a:ea typeface="Meiryo" charset="0"/>
                        <a:cs typeface="Meiryo" charset="0"/>
                      </a:endParaRPr>
                    </a:p>
                    <a:p>
                      <a:pPr marL="0" indent="0" algn="l">
                        <a:buNone/>
                      </a:pPr>
                      <a:r>
                        <a:rPr lang="ja-JP" altLang="en-US" sz="1800" dirty="0">
                          <a:solidFill>
                            <a:srgbClr val="262626"/>
                          </a:solidFill>
                          <a:latin typeface="Meiryo" pitchFamily="34" charset="0"/>
                          <a:ea typeface="Meiryo" pitchFamily="34" charset="-122"/>
                          <a:cs typeface="Meiryo" pitchFamily="34" charset="-120"/>
                        </a:rPr>
                        <a:t>p = 0.85</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22960">
                <a:extLst>
                  <a:ext uri="{0D108BD9-81ED-4DB2-BD59-A6C34878D82A}">
                    <a16:rowId xmlns:a16="http://schemas.microsoft.com/office/drawing/2014/main" val="10004"/>
                  </a:ext>
                </a:extLst>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組織による差</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F 検定</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参考文献数と分野の偏りだけの式に、組織（4区分）を加えて比較</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c>
                  <a:txBody>
                    <a:bodyPr/>
                    <a:lstStyle/>
                    <a:p>
                      <a:pPr marL="0" indent="0" algn="l">
                        <a:buNone/>
                      </a:pPr>
                      <a:r>
                        <a:rPr lang="ja-JP" altLang="en-US" sz="1800" dirty="0">
                          <a:solidFill>
                            <a:srgbClr val="262626"/>
                          </a:solidFill>
                          <a:latin typeface="Meiryo" pitchFamily="34" charset="0"/>
                          <a:ea typeface="Meiryo" pitchFamily="34" charset="-122"/>
                          <a:cs typeface="Meiryo" pitchFamily="34" charset="-120"/>
                        </a:rPr>
                        <a:t>p = 0.027</a:t>
                      </a:r>
                      <a:endParaRPr lang="ja-JP" sz="1800" dirty="0">
                        <a:latin typeface="Meiryo" charset="0"/>
                        <a:ea typeface="Meiryo" charset="0"/>
                        <a:cs typeface="Meiryo" charset="0"/>
                      </a:endParaRPr>
                    </a:p>
                  </a:txBody>
                  <a:tcPr marL="109728" marR="109728" marT="54864" marB="54864" anchor="ctr">
                    <a:lnL w="0" cap="flat" cmpd="sng" algn="ctr">
                      <a:noFill/>
                    </a:lnL>
                    <a:lnR w="0" cap="flat" cmpd="sng" algn="ctr">
                      <a:noFill/>
                    </a:lnR>
                    <a:lnT w="6350" cap="flat" cmpd="sng" algn="ctr">
                      <a:solidFill>
                        <a:srgbClr val="BFBFBF"/>
                      </a:solidFill>
                      <a:prstDash val="solid"/>
                      <a:round/>
                      <a:headEnd type="none" w="med" len="med"/>
                      <a:tailEnd type="none" w="med" len="med"/>
                    </a:lnT>
                    <a:lnB w="19050" cap="flat" cmpd="sng" algn="ctr">
                      <a:solidFill>
                        <a:srgbClr val="404040"/>
                      </a:solidFill>
                      <a:prstDash val="solid"/>
                      <a:round/>
                      <a:headEnd type="none" w="med" len="med"/>
                      <a:tailEnd type="none" w="med" len="med"/>
                    </a:lnB>
                  </a:tcPr>
                </a:tc>
              </a:tr>
            </a:tbl>
          </a:graphicData>
        </a:graphic>
      </p:graphicFrame>
      <p:sp>
        <p:nvSpPr>
          <p:cNvPr id="6" name="Text 3"/>
          <p:cNvSpPr txBox="1"/>
          <p:nvPr/>
        </p:nvSpPr>
        <p:spPr>
          <a:xfrm>
            <a:off x="548640" y="5641848"/>
            <a:ext cx="11094415" cy="713232"/>
          </a:xfrm>
          <a:prstGeom prst="rect">
            <a:avLst/>
          </a:prstGeom>
          <a:noFill/>
          <a:ln/>
        </p:spPr>
        <p:txBody>
          <a:bodyPr wrap="square" lIns="0" tIns="0" rIns="0" bIns="0" rtlCol="0" anchor="t"/>
          <a:lstStyle/>
          <a:p>
            <a:pPr marL="228600" indent="-228600">
              <a:spcAft>
                <a:spcPts val="800"/>
              </a:spcAft>
              <a:buSzPct val="100000"/>
              <a:buChar char="•"/>
            </a:pPr>
            <a:r>
              <a:rPr lang="ja-JP" altLang="en-US" sz="1800" dirty="0">
                <a:solidFill>
                  <a:srgbClr val="262626"/>
                </a:solidFill>
                <a:latin typeface="Meiryo" pitchFamily="34" charset="0"/>
                <a:ea typeface="Meiryo" pitchFamily="34" charset="-122"/>
                <a:cs typeface="Meiryo" pitchFamily="34" charset="-120"/>
              </a:rPr>
              <a:t>p値は論文どうしを独立とみなして計算（同じ研究者の論文が複数あり、小さめに出ている可能性）</a:t>
            </a:r>
            <a:endParaRPr lang="ja-JP"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1312</TotalTime>
  <Words>2504</Words>
  <Application>Microsoft Macintosh PowerPoint</Application>
  <PresentationFormat>Widescreen</PresentationFormat>
  <Paragraphs>316</Paragraphs>
  <Slides>14</Slides>
  <Notes>14</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Meiryo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IKURA Ryosuke</cp:lastModifiedBy>
  <cp:revision>7</cp:revision>
  <dcterms:created xsi:type="dcterms:W3CDTF">2026-09-27T03:40:14Z</dcterms:created>
  <dcterms:modified xsi:type="dcterms:W3CDTF">2026-09-28T03:47:07Z</dcterms:modified>
</cp:coreProperties>
</file>